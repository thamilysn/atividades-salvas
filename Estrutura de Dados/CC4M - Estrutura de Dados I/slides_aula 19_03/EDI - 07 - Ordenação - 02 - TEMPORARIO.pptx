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94" r:id="rId3"/>
    <p:sldId id="316" r:id="rId4"/>
    <p:sldId id="293" r:id="rId5"/>
    <p:sldId id="317" r:id="rId6"/>
    <p:sldId id="309" r:id="rId7"/>
    <p:sldId id="339" r:id="rId8"/>
    <p:sldId id="340" r:id="rId9"/>
    <p:sldId id="343" r:id="rId10"/>
    <p:sldId id="319" r:id="rId11"/>
    <p:sldId id="342" r:id="rId12"/>
    <p:sldId id="296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77810" autoAdjust="0"/>
  </p:normalViewPr>
  <p:slideViewPr>
    <p:cSldViewPr snapToGrid="0">
      <p:cViewPr varScale="1">
        <p:scale>
          <a:sx n="88" d="100"/>
          <a:sy n="88" d="100"/>
        </p:scale>
        <p:origin x="147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19/03/2026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19/03/2026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19/03/2026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19/03/2026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732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19/03/2026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19/03/2026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Estrutura de Dados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Cássio Capucho Peçanha 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07</a:t>
            </a:r>
          </a:p>
          <a:p>
            <a:pPr rtl="0"/>
            <a:r>
              <a:rPr lang="pt-BR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PARTe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Do You Become a Software Engineer?">
            <a:extLst>
              <a:ext uri="{FF2B5EF4-FFF2-40B4-BE49-F238E27FC236}">
                <a16:creationId xmlns:a16="http://schemas.microsoft.com/office/drawing/2014/main" id="{B2065B77-FC08-478E-9704-58E09ED27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9" t="1388" r="15919" b="4805"/>
          <a:stretch/>
        </p:blipFill>
        <p:spPr bwMode="auto">
          <a:xfrm>
            <a:off x="0" y="0"/>
            <a:ext cx="4604079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ntenda o conceito de estrutura projetizada e como o modelo pode  transformar uma empresa | Mundo Carreira">
            <a:extLst>
              <a:ext uri="{FF2B5EF4-FFF2-40B4-BE49-F238E27FC236}">
                <a16:creationId xmlns:a16="http://schemas.microsoft.com/office/drawing/2014/main" id="{C2342731-61B0-7E20-BCE1-225412342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8" t="-236" r="27286" b="236"/>
          <a:stretch/>
        </p:blipFill>
        <p:spPr bwMode="auto">
          <a:xfrm>
            <a:off x="-236569" y="-17004"/>
            <a:ext cx="5091033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44B4EA0-9D41-93EC-6E2A-1563F9737F9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131D3D-624A-7B5F-1FB6-117927C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Mistura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72F536-00DF-9242-70D6-FD40583F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(</a:t>
            </a:r>
            <a:r>
              <a:rPr lang="pt-BR" sz="3600" dirty="0" err="1"/>
              <a:t>MergeSort</a:t>
            </a:r>
            <a:r>
              <a:rPr lang="pt-BR" sz="36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B2B4-5E69-34AF-2071-B197F828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19/03/2026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9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B0A3-516E-4D58-5922-54556886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13E0-8ADC-170C-7205-9FF09ABEF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Também conhecido como ordenação por intercalação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Algoritmo recursivo que usa a </a:t>
            </a:r>
            <a:r>
              <a:rPr lang="pt-BR" sz="2800" dirty="0" err="1"/>
              <a:t>idéia</a:t>
            </a:r>
            <a:r>
              <a:rPr lang="pt-BR" sz="2800" dirty="0"/>
              <a:t> de dividir para conquistar para ordenar os dados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000" dirty="0"/>
              <a:t>Parte do princípio de que é mais fácil ordenar um conjunto com poucos dados do que um com muitos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O algoritmo divide os dados em conjuntos cada vez menores para depois ordená-los e combina-los por meio de intercalação (merge)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27A28-DBED-78C8-5ED4-CC3DD4E1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19/03/2026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85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CC19B-94C4-81BB-8EBD-23FDE4EB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4252C9-ACEA-2C8F-056A-51085228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Ideia básica: Dividir e Conquistar;</a:t>
            </a:r>
          </a:p>
          <a:p>
            <a:r>
              <a:rPr lang="pt-BR" dirty="0"/>
              <a:t>Divide, recursivamente, o conjunto de dados até que cada subconjunto possua 1 elemento;</a:t>
            </a:r>
          </a:p>
          <a:p>
            <a:r>
              <a:rPr lang="pt-BR" dirty="0"/>
              <a:t>Combina 2 subconjuntos de forma a obter 1 conjunto maior e ordenado</a:t>
            </a:r>
          </a:p>
          <a:p>
            <a:r>
              <a:rPr lang="pt-BR" dirty="0"/>
              <a:t>Esse processo se repete até que exista apenas 1 conjunto.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F88C-A31A-723E-4667-60A6127C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51B26C-F0DB-4889-B6A3-FE07E152272F}" type="datetime1">
              <a:rPr lang="pt-BR" smtClean="0"/>
              <a:t>19/03/2026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0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6815-8A06-C685-6222-E1AE9E8A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r>
              <a:rPr lang="pt-BR" dirty="0"/>
              <a:t> - Funcionamento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84F4-28FB-5A62-E172-C01C3C087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Divide, recursivamente, o </a:t>
            </a:r>
            <a:r>
              <a:rPr lang="pt-BR" sz="2800" dirty="0" err="1"/>
              <a:t>array</a:t>
            </a:r>
            <a:r>
              <a:rPr lang="pt-BR" sz="2800" dirty="0"/>
              <a:t> em duas partes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Continua até cada parte ter apenas um elemento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Em seguida, combina dois </a:t>
            </a:r>
            <a:r>
              <a:rPr lang="pt-BR" sz="2800" dirty="0" err="1"/>
              <a:t>array</a:t>
            </a:r>
            <a:r>
              <a:rPr lang="pt-BR" sz="2800" dirty="0"/>
              <a:t> de forma a obter um </a:t>
            </a:r>
            <a:r>
              <a:rPr lang="pt-BR" sz="2800" dirty="0" err="1"/>
              <a:t>array</a:t>
            </a:r>
            <a:r>
              <a:rPr lang="pt-BR" sz="2800" dirty="0"/>
              <a:t> maior e ordenado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A combinação é feita intercalando os elementos de acordo com o sentido da ordenação (crescente ou decrescente)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Este processo se repete até que exista apenas um </a:t>
            </a:r>
            <a:r>
              <a:rPr lang="pt-BR" sz="2800" dirty="0" err="1"/>
              <a:t>array</a:t>
            </a:r>
            <a:endParaRPr lang="pt-BR" sz="2800" dirty="0"/>
          </a:p>
          <a:p>
            <a:endParaRPr lang="pt-B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23C96-050F-9885-33DC-6FCC8B06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19/03/2026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63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CCC19B-94C4-81BB-8EBD-23FDE4EB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 err="1"/>
              <a:t>MergeSort</a:t>
            </a:r>
            <a:r>
              <a:rPr lang="pt-BR" dirty="0"/>
              <a:t> - Exemplo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1A0047-410A-E36F-C62F-ACD239D2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1" y="2108201"/>
            <a:ext cx="9111558" cy="3760891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F88C-A31A-723E-4667-60A6127C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7651B26C-F0DB-4889-B6A3-FE07E152272F}" type="datetime1">
              <a:rPr lang="pt-BR" smtClean="0"/>
              <a:pPr rtl="0">
                <a:spcAft>
                  <a:spcPts val="600"/>
                </a:spcAft>
              </a:pPr>
              <a:t>19/03/2026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3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Passo a passo: função merge</a:t>
            </a:r>
          </a:p>
          <a:p>
            <a:pPr lvl="1"/>
            <a:r>
              <a:rPr lang="pt-BR" dirty="0"/>
              <a:t>Intercala os dados de forma ordenada em um </a:t>
            </a:r>
            <a:r>
              <a:rPr lang="pt-BR" dirty="0" err="1"/>
              <a:t>array</a:t>
            </a:r>
            <a:r>
              <a:rPr lang="pt-BR" dirty="0"/>
              <a:t> maior</a:t>
            </a:r>
          </a:p>
          <a:p>
            <a:pPr lvl="1"/>
            <a:r>
              <a:rPr lang="pt-BR" dirty="0"/>
              <a:t>Utiliza um </a:t>
            </a:r>
            <a:r>
              <a:rPr lang="pt-BR" dirty="0" err="1"/>
              <a:t>array</a:t>
            </a:r>
            <a:r>
              <a:rPr lang="pt-BR" dirty="0"/>
              <a:t> auxiliar</a:t>
            </a:r>
          </a:p>
          <a:p>
            <a:pPr lvl="1"/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7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mergesort_etapa.png"/>
          <p:cNvPicPr>
            <a:picLocks noChangeAspect="1" noChangeArrowheads="1"/>
          </p:cNvPicPr>
          <p:nvPr/>
        </p:nvPicPr>
        <p:blipFill>
          <a:blip r:embed="rId2"/>
          <a:srcRect l="24978" r="22614"/>
          <a:stretch>
            <a:fillRect/>
          </a:stretch>
        </p:blipFill>
        <p:spPr bwMode="auto">
          <a:xfrm>
            <a:off x="3977147" y="3109965"/>
            <a:ext cx="4786346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75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Passo a passo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Divide o </a:t>
            </a:r>
            <a:r>
              <a:rPr lang="pt-BR" dirty="0" err="1"/>
              <a:t>array</a:t>
            </a:r>
            <a:r>
              <a:rPr lang="pt-BR" dirty="0"/>
              <a:t> até ter </a:t>
            </a:r>
            <a:r>
              <a:rPr lang="pt-BR" b="1" dirty="0"/>
              <a:t>N</a:t>
            </a:r>
            <a:r>
              <a:rPr lang="pt-BR" dirty="0"/>
              <a:t> </a:t>
            </a:r>
            <a:r>
              <a:rPr lang="pt-BR" dirty="0" err="1"/>
              <a:t>arrays</a:t>
            </a:r>
            <a:r>
              <a:rPr lang="pt-BR" dirty="0"/>
              <a:t> de 1 elemento cada</a:t>
            </a:r>
          </a:p>
        </p:txBody>
      </p:sp>
      <p:pic>
        <p:nvPicPr>
          <p:cNvPr id="5" name="Picture 2" descr="E:\Ertai\Levar Casa\Levar Sanca\Livro Estutura de Dados em C\VersaoLatex\Figuras\mergesort.png"/>
          <p:cNvPicPr>
            <a:picLocks noChangeAspect="1" noChangeArrowheads="1"/>
          </p:cNvPicPr>
          <p:nvPr/>
        </p:nvPicPr>
        <p:blipFill rotWithShape="1">
          <a:blip r:embed="rId2"/>
          <a:srcRect l="2294" r="2277" b="47837"/>
          <a:stretch/>
        </p:blipFill>
        <p:spPr bwMode="auto">
          <a:xfrm>
            <a:off x="2422244" y="2861758"/>
            <a:ext cx="7408472" cy="33781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161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dirty="0"/>
              <a:t>Passo a passo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Intercala os </a:t>
            </a:r>
            <a:r>
              <a:rPr lang="pt-BR" dirty="0" err="1"/>
              <a:t>arrays</a:t>
            </a:r>
            <a:r>
              <a:rPr lang="pt-BR" dirty="0"/>
              <a:t> até obter um único </a:t>
            </a:r>
            <a:r>
              <a:rPr lang="pt-BR" dirty="0" err="1"/>
              <a:t>array</a:t>
            </a:r>
            <a:r>
              <a:rPr lang="pt-BR" dirty="0"/>
              <a:t> de </a:t>
            </a:r>
            <a:r>
              <a:rPr lang="pt-BR" b="1" dirty="0"/>
              <a:t>N </a:t>
            </a:r>
            <a:r>
              <a:rPr lang="pt-BR" dirty="0"/>
              <a:t>elementos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5" name="Picture 2" descr="E:\Ertai\Levar Casa\Levar Sanca\Livro Estutura de Dados em C\VersaoLatex\Figuras\mergesort.png"/>
          <p:cNvPicPr>
            <a:picLocks noChangeAspect="1" noChangeArrowheads="1"/>
          </p:cNvPicPr>
          <p:nvPr/>
        </p:nvPicPr>
        <p:blipFill rotWithShape="1">
          <a:blip r:embed="rId2"/>
          <a:srcRect l="2294" t="43296" r="2277"/>
          <a:stretch/>
        </p:blipFill>
        <p:spPr bwMode="auto">
          <a:xfrm>
            <a:off x="2981044" y="2873738"/>
            <a:ext cx="7021476" cy="34804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007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Algoritmo usa 2 funções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 err="1"/>
              <a:t>mergeSort</a:t>
            </a:r>
            <a:r>
              <a:rPr lang="pt-BR" sz="2400" dirty="0"/>
              <a:t> : divide os dados em </a:t>
            </a:r>
            <a:r>
              <a:rPr lang="pt-BR" sz="2400" dirty="0" err="1"/>
              <a:t>arrays</a:t>
            </a:r>
            <a:r>
              <a:rPr lang="pt-BR" sz="2400" dirty="0"/>
              <a:t> cada vez menores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merge: intercala os dados de forma ordenada em um </a:t>
            </a:r>
            <a:r>
              <a:rPr lang="pt-BR" sz="2400" dirty="0" err="1"/>
              <a:t>array</a:t>
            </a:r>
            <a:r>
              <a:rPr lang="pt-BR" sz="2400" dirty="0"/>
              <a:t> maior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2357175" y="3642758"/>
            <a:ext cx="7477650" cy="2466026"/>
            <a:chOff x="1397834" y="3849939"/>
            <a:chExt cx="7477650" cy="246602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5719"/>
            <a:stretch/>
          </p:blipFill>
          <p:spPr bwMode="auto">
            <a:xfrm>
              <a:off x="1397834" y="3849939"/>
              <a:ext cx="6348331" cy="2048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Chave esquerda 5"/>
            <p:cNvSpPr/>
            <p:nvPr/>
          </p:nvSpPr>
          <p:spPr>
            <a:xfrm flipH="1">
              <a:off x="5500694" y="4932609"/>
              <a:ext cx="144016" cy="360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Conector angulado 6"/>
            <p:cNvCxnSpPr>
              <a:stCxn id="8" idx="1"/>
              <a:endCxn id="6" idx="1"/>
            </p:cNvCxnSpPr>
            <p:nvPr/>
          </p:nvCxnSpPr>
          <p:spPr>
            <a:xfrm rot="10800000" flipV="1">
              <a:off x="5644711" y="4817943"/>
              <a:ext cx="913865" cy="2946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ixaDeTexto 7"/>
            <p:cNvSpPr txBox="1"/>
            <p:nvPr/>
          </p:nvSpPr>
          <p:spPr>
            <a:xfrm>
              <a:off x="6558575" y="4464000"/>
              <a:ext cx="23169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Chama a função para as 2 metades</a:t>
              </a:r>
              <a:endParaRPr lang="en-US" sz="2000" dirty="0"/>
            </a:p>
          </p:txBody>
        </p:sp>
        <p:sp>
          <p:nvSpPr>
            <p:cNvPr id="9" name="Chave esquerda 8"/>
            <p:cNvSpPr/>
            <p:nvPr/>
          </p:nvSpPr>
          <p:spPr>
            <a:xfrm rot="5400000" flipH="1">
              <a:off x="3142670" y="5108121"/>
              <a:ext cx="144016" cy="936000"/>
            </a:xfrm>
            <a:prstGeom prst="leftBrac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Conector angulado 5"/>
            <p:cNvCxnSpPr>
              <a:stCxn id="11" idx="1"/>
              <a:endCxn id="9" idx="1"/>
            </p:cNvCxnSpPr>
            <p:nvPr/>
          </p:nvCxnSpPr>
          <p:spPr>
            <a:xfrm rot="10800000">
              <a:off x="3214679" y="5648130"/>
              <a:ext cx="2250135" cy="313893"/>
            </a:xfrm>
            <a:prstGeom prst="bentConnector4">
              <a:avLst>
                <a:gd name="adj1" fmla="val 48400"/>
                <a:gd name="adj2" fmla="val -4621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aixaDeTexto 10"/>
            <p:cNvSpPr txBox="1"/>
            <p:nvPr/>
          </p:nvSpPr>
          <p:spPr>
            <a:xfrm>
              <a:off x="5464813" y="5608079"/>
              <a:ext cx="28598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Combina as 2 metades de forma ordenada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51744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9921702" y="6009958"/>
            <a:ext cx="780010" cy="365125"/>
          </a:xfrm>
        </p:spPr>
        <p:txBody>
          <a:bodyPr>
            <a:normAutofit/>
          </a:bodyPr>
          <a:lstStyle/>
          <a:p>
            <a:fld id="{2119D8CF-8DEC-4D9F-84EE-ADF04DFF3391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92771" y="-228265"/>
            <a:ext cx="7376160" cy="1037068"/>
          </a:xfrm>
        </p:spPr>
        <p:txBody>
          <a:bodyPr/>
          <a:lstStyle/>
          <a:p>
            <a:r>
              <a:rPr lang="pt-BR" dirty="0"/>
              <a:t>Algoritmo Merge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1061720" y="1671320"/>
            <a:ext cx="10058400" cy="3760788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6"/>
          <a:stretch/>
        </p:blipFill>
        <p:spPr bwMode="auto">
          <a:xfrm>
            <a:off x="5974140" y="891949"/>
            <a:ext cx="5145980" cy="5297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have esquerda 12"/>
          <p:cNvSpPr/>
          <p:nvPr/>
        </p:nvSpPr>
        <p:spPr>
          <a:xfrm>
            <a:off x="7074581" y="2773120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/>
          <p:cNvSpPr txBox="1"/>
          <p:nvPr/>
        </p:nvSpPr>
        <p:spPr>
          <a:xfrm>
            <a:off x="2909498" y="2373151"/>
            <a:ext cx="2810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Combinar ordenando</a:t>
            </a:r>
            <a:endParaRPr lang="en-US" sz="2000" dirty="0"/>
          </a:p>
        </p:txBody>
      </p:sp>
      <p:sp>
        <p:nvSpPr>
          <p:cNvPr id="15" name="Chave esquerda 14"/>
          <p:cNvSpPr/>
          <p:nvPr/>
        </p:nvSpPr>
        <p:spPr>
          <a:xfrm>
            <a:off x="7159680" y="4245359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15"/>
          <p:cNvSpPr txBox="1"/>
          <p:nvPr/>
        </p:nvSpPr>
        <p:spPr>
          <a:xfrm>
            <a:off x="2909498" y="3957327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Copia o que sobrar</a:t>
            </a:r>
            <a:endParaRPr lang="en-US" sz="2000" dirty="0"/>
          </a:p>
        </p:txBody>
      </p:sp>
      <p:sp>
        <p:nvSpPr>
          <p:cNvPr id="17" name="Chave esquerda 16"/>
          <p:cNvSpPr/>
          <p:nvPr/>
        </p:nvSpPr>
        <p:spPr>
          <a:xfrm>
            <a:off x="6871648" y="3597287"/>
            <a:ext cx="144016" cy="36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3271248" y="3093231"/>
            <a:ext cx="1996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Vetor acabou?</a:t>
            </a:r>
            <a:endParaRPr lang="en-US" sz="2000" dirty="0"/>
          </a:p>
        </p:txBody>
      </p:sp>
      <p:sp>
        <p:nvSpPr>
          <p:cNvPr id="19" name="Chave esquerda 18"/>
          <p:cNvSpPr/>
          <p:nvPr/>
        </p:nvSpPr>
        <p:spPr>
          <a:xfrm>
            <a:off x="6439600" y="5181463"/>
            <a:ext cx="144016" cy="54000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9"/>
          <p:cNvSpPr txBox="1"/>
          <p:nvPr/>
        </p:nvSpPr>
        <p:spPr>
          <a:xfrm>
            <a:off x="2909498" y="4677407"/>
            <a:ext cx="22145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Copiar do auxiliar para o original</a:t>
            </a:r>
            <a:endParaRPr lang="en-US" sz="2000" dirty="0"/>
          </a:p>
        </p:txBody>
      </p:sp>
      <p:cxnSp>
        <p:nvCxnSpPr>
          <p:cNvPr id="21" name="Conector angulado 20"/>
          <p:cNvCxnSpPr>
            <a:stCxn id="14" idx="3"/>
            <a:endCxn id="13" idx="1"/>
          </p:cNvCxnSpPr>
          <p:nvPr/>
        </p:nvCxnSpPr>
        <p:spPr>
          <a:xfrm>
            <a:off x="5719521" y="2573206"/>
            <a:ext cx="1355061" cy="4699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angulado 23"/>
          <p:cNvCxnSpPr>
            <a:stCxn id="18" idx="3"/>
            <a:endCxn id="17" idx="1"/>
          </p:cNvCxnSpPr>
          <p:nvPr/>
        </p:nvCxnSpPr>
        <p:spPr>
          <a:xfrm>
            <a:off x="5268092" y="3293287"/>
            <a:ext cx="1603556" cy="48400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do 26"/>
          <p:cNvCxnSpPr>
            <a:stCxn id="16" idx="3"/>
            <a:endCxn id="15" idx="1"/>
          </p:cNvCxnSpPr>
          <p:nvPr/>
        </p:nvCxnSpPr>
        <p:spPr>
          <a:xfrm>
            <a:off x="5338390" y="4157383"/>
            <a:ext cx="1821290" cy="35797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stCxn id="20" idx="3"/>
            <a:endCxn id="19" idx="1"/>
          </p:cNvCxnSpPr>
          <p:nvPr/>
        </p:nvCxnSpPr>
        <p:spPr>
          <a:xfrm>
            <a:off x="5124076" y="5031351"/>
            <a:ext cx="1315524" cy="42011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564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1700B-082E-F193-4993-A5F8F51E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MergeSort</a:t>
            </a:r>
            <a:r>
              <a:rPr lang="pt-BR" dirty="0"/>
              <a:t> - Exercício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3605-4871-3B34-BA98-13992377B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Determine o melhor e o pior caso para o </a:t>
            </a:r>
            <a:r>
              <a:rPr lang="pt-BR" sz="2400" dirty="0" err="1"/>
              <a:t>MergeSort</a:t>
            </a:r>
            <a:r>
              <a:rPr lang="pt-BR" sz="2400" dirty="0"/>
              <a:t>? Explique.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/>
              <a:t>O </a:t>
            </a:r>
            <a:r>
              <a:rPr lang="pt-BR" sz="2400" dirty="0" err="1"/>
              <a:t>MergeSort</a:t>
            </a:r>
            <a:r>
              <a:rPr lang="pt-BR" sz="2400" dirty="0"/>
              <a:t> é estável? </a:t>
            </a:r>
            <a:r>
              <a:rPr lang="pt-BR" sz="2400"/>
              <a:t>Explique.</a:t>
            </a:r>
            <a:endParaRPr lang="pt-BR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6D56-6D63-C85C-7149-C8198AFF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19/03/2026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08226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3476</TotalTime>
  <Words>353</Words>
  <Application>Microsoft Office PowerPoint</Application>
  <PresentationFormat>Widescreen</PresentationFormat>
  <Paragraphs>65</Paragraphs>
  <Slides>12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Bookman Old Style</vt:lpstr>
      <vt:lpstr>Calibri</vt:lpstr>
      <vt:lpstr>Franklin Gothic Book</vt:lpstr>
      <vt:lpstr>Wingdings</vt:lpstr>
      <vt:lpstr>1_RetrospectVTI</vt:lpstr>
      <vt:lpstr>Estrutura de Dados I</vt:lpstr>
      <vt:lpstr>Ordenação por Mistura</vt:lpstr>
      <vt:lpstr>MergeSort</vt:lpstr>
      <vt:lpstr>MergeSort</vt:lpstr>
      <vt:lpstr>MergeSort - Funcionamento</vt:lpstr>
      <vt:lpstr>MergeSort - Exemplo</vt:lpstr>
      <vt:lpstr>Algoritmo Merge Sort</vt:lpstr>
      <vt:lpstr>Algoritmo Merge Sort</vt:lpstr>
      <vt:lpstr>Algoritmo Merge Sort</vt:lpstr>
      <vt:lpstr>Algoritmo Merge Sort</vt:lpstr>
      <vt:lpstr>Algoritmo Merge Sort</vt:lpstr>
      <vt:lpstr>MergeSort - 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Cássio Capucho</dc:creator>
  <cp:lastModifiedBy>alunolab13</cp:lastModifiedBy>
  <cp:revision>92</cp:revision>
  <cp:lastPrinted>2023-09-15T11:54:53Z</cp:lastPrinted>
  <dcterms:created xsi:type="dcterms:W3CDTF">2022-02-10T03:35:00Z</dcterms:created>
  <dcterms:modified xsi:type="dcterms:W3CDTF">2026-03-19T13:11:15Z</dcterms:modified>
</cp:coreProperties>
</file>