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35"/>
  </p:notesMasterIdLst>
  <p:handoutMasterIdLst>
    <p:handoutMasterId r:id="rId36"/>
  </p:handoutMasterIdLst>
  <p:sldIdLst>
    <p:sldId id="257" r:id="rId2"/>
    <p:sldId id="294" r:id="rId3"/>
    <p:sldId id="344" r:id="rId4"/>
    <p:sldId id="258" r:id="rId5"/>
    <p:sldId id="259" r:id="rId6"/>
    <p:sldId id="284" r:id="rId7"/>
    <p:sldId id="260" r:id="rId8"/>
    <p:sldId id="268" r:id="rId9"/>
    <p:sldId id="261" r:id="rId10"/>
    <p:sldId id="262" r:id="rId11"/>
    <p:sldId id="263" r:id="rId12"/>
    <p:sldId id="345" r:id="rId13"/>
    <p:sldId id="288" r:id="rId14"/>
    <p:sldId id="289" r:id="rId15"/>
    <p:sldId id="346" r:id="rId16"/>
    <p:sldId id="270" r:id="rId17"/>
    <p:sldId id="265" r:id="rId18"/>
    <p:sldId id="266" r:id="rId19"/>
    <p:sldId id="290" r:id="rId20"/>
    <p:sldId id="274" r:id="rId21"/>
    <p:sldId id="295" r:id="rId22"/>
    <p:sldId id="291" r:id="rId23"/>
    <p:sldId id="272" r:id="rId24"/>
    <p:sldId id="282" r:id="rId25"/>
    <p:sldId id="278" r:id="rId26"/>
    <p:sldId id="285" r:id="rId27"/>
    <p:sldId id="280" r:id="rId28"/>
    <p:sldId id="292" r:id="rId29"/>
    <p:sldId id="281" r:id="rId30"/>
    <p:sldId id="283" r:id="rId31"/>
    <p:sldId id="347" r:id="rId32"/>
    <p:sldId id="297" r:id="rId33"/>
    <p:sldId id="348" r:id="rId34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7807" autoAdjust="0"/>
  </p:normalViewPr>
  <p:slideViewPr>
    <p:cSldViewPr snapToGrid="0">
      <p:cViewPr varScale="1">
        <p:scale>
          <a:sx n="60" d="100"/>
          <a:sy n="60" d="100"/>
        </p:scale>
        <p:origin x="1512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C3E0910-793C-46A0-8623-CEAD4857882F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EE704A-765A-48C7-8594-25B15929F837}" type="datetime1">
              <a:rPr lang="pt-BR" smtClean="0"/>
              <a:t>30/04/2024</a:t>
            </a:fld>
            <a:endParaRPr lang="en-US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/>
              <a:t>Clique para editar o texto Mestre</a:t>
            </a:r>
            <a:endParaRPr lang="en-US"/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30/04/2024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692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30/04/2024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59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30/04/2024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622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30/04/2024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67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30/04/2024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073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30/04/2024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166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49EE704A-765A-48C7-8594-25B15929F837}" type="datetime1">
              <a:rPr lang="pt-BR" smtClean="0"/>
              <a:t>30/04/2024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054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/>
              <a:t>Clique para editar o estilo do subtítulo Mestre</a:t>
            </a:r>
            <a:endParaRPr lang="en-US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E92B5B4-4D0A-4964-A1A3-B85B0EE00890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3252B5-F3E6-4058-A723-196087E9E541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A251DFA-97D2-4C90-9100-D1173CC96C37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651B26C-F0DB-4889-B6A3-FE07E152272F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9" name="Espaço Reservado para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0565EE-A4B5-4AB4-9432-D16ECAE9EF1F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C470C2D-02C8-4A1B-A79F-498A53DD951F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Espaço reservado para o número do slide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94EF83-1835-4C7A-B4B2-F0B720F5AC0B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dirty="0"/>
              <a:t>Clique para editar os estilos de 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6F5D5688-1774-4625-9E74-88EA94DB2550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D5E4E1C-696A-4E82-B6DD-87ECA4CC925A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2E1A5F9-C71D-4DE8-8BF4-9F6FC06A94B8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br" dirty="0"/>
              <a:t>Clique para editar o estilo de título Mestre</a:t>
            </a:r>
            <a:endParaRPr lang="en-US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1DCD7D-5BFD-485D-AED5-B62EAACA4CB6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Espaço Reservado para o Número do Slide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ítulo e texto em cima do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0352" y="228600"/>
            <a:ext cx="10687049" cy="914400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812800" y="1600200"/>
            <a:ext cx="10566400" cy="2133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12800" y="3886200"/>
            <a:ext cx="10566400" cy="213360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B2F09D-FD30-4A06-8626-54D1419027DF}" type="slidenum">
              <a:rPr lang="pt-BR"/>
              <a:pPr>
                <a:defRPr/>
              </a:pPr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387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dirty="0"/>
              <a:t>Clique para editar o estilo de título Mestre</a:t>
            </a:r>
            <a:endParaRPr lang="en-US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66BA6665-D630-4C43-9989-3D086DA68E5F}" type="datetime1">
              <a:rPr lang="pt-BR" smtClean="0"/>
              <a:t>30/04/2024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50" r:id="rId1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 rtlCol="0">
            <a:normAutofit/>
          </a:bodyPr>
          <a:lstStyle/>
          <a:p>
            <a:pPr rtl="0"/>
            <a:r>
              <a:rPr lang="pt-br" sz="8000" dirty="0"/>
              <a:t>Estrutura de Dados 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br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Cássio Capucho Peçanha </a:t>
            </a:r>
            <a:r>
              <a:rPr lang="pt-BR" sz="2400">
                <a:solidFill>
                  <a:schemeClr val="tx1">
                    <a:lumMod val="85000"/>
                    <a:lumOff val="15000"/>
                  </a:schemeClr>
                </a:solidFill>
              </a:rPr>
              <a:t>–</a:t>
            </a:r>
            <a:r>
              <a:rPr lang="pt-br" sz="240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pt-br">
                <a:solidFill>
                  <a:schemeClr val="tx1">
                    <a:lumMod val="85000"/>
                    <a:lumOff val="15000"/>
                  </a:schemeClr>
                </a:solidFill>
              </a:rPr>
              <a:t>09</a:t>
            </a:r>
          </a:p>
          <a:p>
            <a:pPr rtl="0"/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rtl="0"/>
            <a:endParaRPr lang="pt-br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ow Do You Become a Software Engineer?">
            <a:extLst>
              <a:ext uri="{FF2B5EF4-FFF2-40B4-BE49-F238E27FC236}">
                <a16:creationId xmlns:a16="http://schemas.microsoft.com/office/drawing/2014/main" id="{B2065B77-FC08-478E-9704-58E09ED270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79" t="1388" r="15919" b="4805"/>
          <a:stretch/>
        </p:blipFill>
        <p:spPr bwMode="auto">
          <a:xfrm>
            <a:off x="0" y="0"/>
            <a:ext cx="4604079" cy="68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Entenda o conceito de estrutura projetizada e como o modelo pode  transformar uma empresa | Mundo Carreira">
            <a:extLst>
              <a:ext uri="{FF2B5EF4-FFF2-40B4-BE49-F238E27FC236}">
                <a16:creationId xmlns:a16="http://schemas.microsoft.com/office/drawing/2014/main" id="{C2342731-61B0-7E20-BCE1-2254123420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08" t="-236" r="27286" b="236"/>
          <a:stretch/>
        </p:blipFill>
        <p:spPr bwMode="auto">
          <a:xfrm>
            <a:off x="-236569" y="-17004"/>
            <a:ext cx="5091033" cy="6876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44B4EA0-9D41-93EC-6E2A-1563F9737F93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7131D3D-624A-7B5F-1FB6-117927C1B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Dinâmica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72F536-00DF-9242-70D6-FD40583FE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endParaRPr lang="pt-BR" sz="3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CB2B4-5E69-34AF-2071-B197F8287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23252B5-F3E6-4058-A723-196087E9E541}" type="datetime1">
              <a:rPr lang="pt-BR" smtClean="0"/>
              <a:t>30/04/2024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94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Definição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800" dirty="0"/>
              <a:t>Sempre que escrevemos um programa, é preciso reservar espaço para as informações que serão processadas.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800" dirty="0"/>
              <a:t>Para isso utilizamos as variáveis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Uma variável é uma posição de memória que armazena uma informação que pode ser modificada pelo programa.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Ela deve ser definida antes de ser usada.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Definição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000" dirty="0"/>
              <a:t>Infelizmente, nem sempre é possível saber, em tempo de execução, o quanto de memória um programa irá precisar.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000" dirty="0"/>
              <a:t>Exemplo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800" dirty="0"/>
              <a:t>Faça um programa para cadastrar o preço de </a:t>
            </a:r>
            <a:r>
              <a:rPr lang="pt-BR" sz="1800" b="1" dirty="0"/>
              <a:t>N </a:t>
            </a:r>
            <a:r>
              <a:rPr lang="pt-BR" sz="1800" dirty="0"/>
              <a:t>produtos, em que </a:t>
            </a:r>
            <a:r>
              <a:rPr lang="pt-BR" sz="1800" b="1" dirty="0"/>
              <a:t>N</a:t>
            </a:r>
            <a:r>
              <a:rPr lang="pt-BR" sz="1800" dirty="0"/>
              <a:t> é um valor informado pelo usuário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E3976B-C4AF-4D7F-813E-5F49ADEE77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dirty="0"/>
          </a:p>
        </p:txBody>
      </p:sp>
      <p:grpSp>
        <p:nvGrpSpPr>
          <p:cNvPr id="3" name="Grupo 2"/>
          <p:cNvGrpSpPr/>
          <p:nvPr/>
        </p:nvGrpSpPr>
        <p:grpSpPr>
          <a:xfrm>
            <a:off x="6009640" y="2569210"/>
            <a:ext cx="6019800" cy="2419350"/>
            <a:chOff x="2209800" y="3962400"/>
            <a:chExt cx="6019800" cy="2419350"/>
          </a:xfrm>
        </p:grpSpPr>
        <p:pic>
          <p:nvPicPr>
            <p:cNvPr id="7170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09800" y="3962400"/>
              <a:ext cx="2771775" cy="2419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CaixaDeTexto 1"/>
            <p:cNvSpPr txBox="1"/>
            <p:nvPr/>
          </p:nvSpPr>
          <p:spPr>
            <a:xfrm>
              <a:off x="5486400" y="3962400"/>
              <a:ext cx="274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/>
                <a:t>Errado!</a:t>
              </a:r>
              <a:r>
                <a:rPr lang="pt-BR" dirty="0"/>
                <a:t> Não sabemos o valor de </a:t>
              </a:r>
              <a:r>
                <a:rPr lang="pt-BR" b="1" dirty="0"/>
                <a:t>N</a:t>
              </a:r>
              <a:endParaRPr lang="en-US" b="1" dirty="0"/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5486400" y="5410200"/>
              <a:ext cx="2743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Funciona, mas não é o mais indicado</a:t>
              </a:r>
              <a:endParaRPr lang="en-US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Definição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800" dirty="0"/>
              <a:t>A </a:t>
            </a:r>
            <a:r>
              <a:rPr lang="pt-BR" sz="2800" b="1" i="1" dirty="0">
                <a:solidFill>
                  <a:srgbClr val="0070C0"/>
                </a:solidFill>
              </a:rPr>
              <a:t>alocação dinâmica</a:t>
            </a:r>
            <a:r>
              <a:rPr lang="pt-BR" sz="2800" b="1" dirty="0">
                <a:solidFill>
                  <a:srgbClr val="0070C0"/>
                </a:solidFill>
              </a:rPr>
              <a:t> </a:t>
            </a:r>
            <a:r>
              <a:rPr lang="pt-BR" sz="2800" dirty="0"/>
              <a:t>permite ao programador criar “variáveis” em tempo de execução, ou seja, alocar memória para novas variáveis quando o programa está sendo executado, e não apenas quando se está escrevendo o programa.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/>
              <a:t>Quantidade de memória é alocada sob demanda, ou seja, quando o programa precisa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/>
              <a:t>Menos desperdício de memória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1800" dirty="0"/>
              <a:t>Espaço é reservado até liberação explícita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1800" dirty="0"/>
              <a:t>Depois de liberado, estará disponibilizado para outros usos e não pode mais ser acessado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1800" dirty="0"/>
              <a:t>Espaço alocado e não liberado explicitamente é automaticamente liberado ao final da execução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Alocando memória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DB59F7-4168-BA67-3038-A9E6FD3E8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eta para a direita 6"/>
          <p:cNvSpPr/>
          <p:nvPr/>
        </p:nvSpPr>
        <p:spPr>
          <a:xfrm>
            <a:off x="4953000" y="4038600"/>
            <a:ext cx="1981200" cy="38100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291" name="CaixaDeTexto 7"/>
          <p:cNvSpPr txBox="1">
            <a:spLocks noChangeArrowheads="1"/>
          </p:cNvSpPr>
          <p:nvPr/>
        </p:nvSpPr>
        <p:spPr bwMode="auto">
          <a:xfrm>
            <a:off x="4800600" y="2971800"/>
            <a:ext cx="22860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pt-BR" b="1" dirty="0"/>
              <a:t>Alocando 5 posições de memória em </a:t>
            </a:r>
            <a:r>
              <a:rPr lang="pt-BR" b="1" dirty="0" err="1"/>
              <a:t>int</a:t>
            </a:r>
            <a:r>
              <a:rPr lang="pt-BR" b="1" dirty="0"/>
              <a:t> *p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405510"/>
              </p:ext>
            </p:extLst>
          </p:nvPr>
        </p:nvGraphicFramePr>
        <p:xfrm>
          <a:off x="1794850" y="1950720"/>
          <a:ext cx="29718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Memória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err="1"/>
                        <a:t>int</a:t>
                      </a:r>
                      <a:r>
                        <a:rPr lang="pt-BR" sz="1600" dirty="0"/>
                        <a:t> *p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NULL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884254"/>
              </p:ext>
            </p:extLst>
          </p:nvPr>
        </p:nvGraphicFramePr>
        <p:xfrm>
          <a:off x="7086600" y="1950720"/>
          <a:ext cx="29718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9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Memória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b="0" dirty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 err="1"/>
                        <a:t>int</a:t>
                      </a:r>
                      <a:r>
                        <a:rPr lang="pt-BR" sz="1600" dirty="0"/>
                        <a:t> *p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123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p[0]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p[1]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p[2]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p[3]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44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p[4]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52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5" name="Conector angulado 4"/>
          <p:cNvCxnSpPr/>
          <p:nvPr/>
        </p:nvCxnSpPr>
        <p:spPr>
          <a:xfrm>
            <a:off x="9828212" y="3657600"/>
            <a:ext cx="1588" cy="685800"/>
          </a:xfrm>
          <a:prstGeom prst="bentConnector3">
            <a:avLst>
              <a:gd name="adj1" fmla="val 4540114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Dinâmica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3200" dirty="0"/>
              <a:t>A linguagem C ANSI usa apenas 4 funções para o sistema de alocação dinâmica, disponíveis na </a:t>
            </a:r>
            <a:r>
              <a:rPr lang="pt-BR" sz="3200" dirty="0" err="1"/>
              <a:t>stdlib.h</a:t>
            </a:r>
            <a:r>
              <a:rPr lang="pt-BR" sz="3200" dirty="0"/>
              <a:t>: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800" b="1" dirty="0" err="1">
                <a:solidFill>
                  <a:srgbClr val="0070C0"/>
                </a:solidFill>
              </a:rPr>
              <a:t>malloc</a:t>
            </a:r>
            <a:endParaRPr lang="pt-BR" sz="2800" b="1" dirty="0">
              <a:solidFill>
                <a:srgbClr val="0070C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800" b="1" dirty="0" err="1">
                <a:solidFill>
                  <a:srgbClr val="0070C0"/>
                </a:solidFill>
              </a:rPr>
              <a:t>calloc</a:t>
            </a:r>
            <a:endParaRPr lang="pt-BR" sz="2800" b="1" dirty="0">
              <a:solidFill>
                <a:srgbClr val="0070C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800" b="1" dirty="0" err="1">
                <a:solidFill>
                  <a:srgbClr val="0070C0"/>
                </a:solidFill>
              </a:rPr>
              <a:t>realloc</a:t>
            </a:r>
            <a:endParaRPr lang="pt-BR" sz="2800" b="1" dirty="0">
              <a:solidFill>
                <a:srgbClr val="0070C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800" b="1" dirty="0" err="1">
                <a:solidFill>
                  <a:srgbClr val="0070C0"/>
                </a:solidFill>
              </a:rPr>
              <a:t>free</a:t>
            </a:r>
            <a:endParaRPr lang="pt-BR" sz="28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Dinâmica - malloc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b="1" dirty="0" err="1">
                <a:solidFill>
                  <a:srgbClr val="0070C0"/>
                </a:solidFill>
              </a:rPr>
              <a:t>malloc</a:t>
            </a:r>
            <a:endParaRPr lang="pt-BR" sz="2400" b="1" dirty="0">
              <a:solidFill>
                <a:srgbClr val="0070C0"/>
              </a:solidFill>
            </a:endParaRP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000" dirty="0"/>
              <a:t>A função </a:t>
            </a:r>
            <a:r>
              <a:rPr lang="pt-BR" sz="2000" dirty="0" err="1"/>
              <a:t>malloc</a:t>
            </a:r>
            <a:r>
              <a:rPr lang="pt-BR" sz="2000" dirty="0"/>
              <a:t>() serve para alocar memória e tem o seguinte protótipo: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endParaRPr lang="pt-BR" sz="2400" dirty="0"/>
          </a:p>
          <a:p>
            <a:pPr eaLnBrk="1" hangingPunct="1">
              <a:buFont typeface="Wingdings" panose="05000000000000000000" pitchFamily="2" charset="2"/>
              <a:buChar char="§"/>
            </a:pPr>
            <a:endParaRPr lang="pt-BR" sz="2400" dirty="0"/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Funcionalidade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000" dirty="0"/>
              <a:t>Dado o número de bytes que queremos alocar (</a:t>
            </a:r>
            <a:r>
              <a:rPr lang="pt-BR" sz="2000" b="1" dirty="0"/>
              <a:t>num</a:t>
            </a:r>
            <a:r>
              <a:rPr lang="pt-BR" sz="2000" dirty="0"/>
              <a:t>), ela aloca na memória e retorna um ponteiro </a:t>
            </a:r>
            <a:r>
              <a:rPr lang="pt-BR" sz="2000" b="1" dirty="0" err="1"/>
              <a:t>void</a:t>
            </a:r>
            <a:r>
              <a:rPr lang="pt-BR" sz="2000" b="1" dirty="0"/>
              <a:t>*</a:t>
            </a:r>
            <a:r>
              <a:rPr lang="pt-BR" sz="2000" dirty="0"/>
              <a:t> para o primeiro byte alocado.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40492" y="3429000"/>
            <a:ext cx="43719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Dinâmica - malloc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O ponteiro </a:t>
            </a:r>
            <a:r>
              <a:rPr lang="pt-BR" sz="2400" b="1" dirty="0" err="1"/>
              <a:t>void</a:t>
            </a:r>
            <a:r>
              <a:rPr lang="pt-BR" sz="2400" b="1" dirty="0"/>
              <a:t>*</a:t>
            </a:r>
            <a:r>
              <a:rPr lang="pt-BR" sz="2400" dirty="0"/>
              <a:t> pode ser atribuído a qualquer tipo de ponteiro via </a:t>
            </a:r>
            <a:r>
              <a:rPr lang="pt-BR" sz="2400" i="1" dirty="0" err="1"/>
              <a:t>type</a:t>
            </a:r>
            <a:r>
              <a:rPr lang="pt-BR" sz="2400" i="1" dirty="0"/>
              <a:t> cast</a:t>
            </a:r>
            <a:r>
              <a:rPr lang="pt-BR" sz="2400" dirty="0"/>
              <a:t>. Se não houver memória suficiente para alocar a memória requisitada a função </a:t>
            </a:r>
            <a:r>
              <a:rPr lang="pt-BR" sz="2400" dirty="0" err="1"/>
              <a:t>malloc</a:t>
            </a:r>
            <a:r>
              <a:rPr lang="pt-BR" sz="2400" dirty="0"/>
              <a:t>() retorna um ponteiro nulo.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40492" y="4114168"/>
            <a:ext cx="4371975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Dinâmica - malloc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Alocar 1000 bytes de memória livre.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sz="2000" dirty="0"/>
          </a:p>
          <a:p>
            <a:pPr eaLnBrk="1" hangingPunct="1">
              <a:buFont typeface="Wingdings" panose="05000000000000000000" pitchFamily="2" charset="2"/>
              <a:buChar char="§"/>
            </a:pPr>
            <a:endParaRPr lang="pt-BR" sz="2400" dirty="0"/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Alocar espaço para 50 inteiros: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sz="2000" dirty="0"/>
          </a:p>
          <a:p>
            <a:pPr eaLnBrk="1" hangingPunct="1"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32908" y="2857343"/>
            <a:ext cx="3762375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97314" y="4629470"/>
            <a:ext cx="47529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Dinâmica - malloc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Operador </a:t>
            </a:r>
            <a:r>
              <a:rPr lang="pt-BR" sz="2400" b="1" dirty="0" err="1">
                <a:solidFill>
                  <a:srgbClr val="0070C0"/>
                </a:solidFill>
              </a:rPr>
              <a:t>sizeof</a:t>
            </a:r>
            <a:r>
              <a:rPr lang="pt-BR" sz="2400" b="1" dirty="0">
                <a:solidFill>
                  <a:srgbClr val="0070C0"/>
                </a:solidFill>
              </a:rPr>
              <a:t>()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000" dirty="0"/>
              <a:t>Retorna o número de </a:t>
            </a:r>
            <a:r>
              <a:rPr lang="pt-BR" sz="2000" b="1" i="1" dirty="0"/>
              <a:t>bytes</a:t>
            </a:r>
            <a:r>
              <a:rPr lang="pt-BR" sz="2000" dirty="0"/>
              <a:t> de um dado tipo de dado. Ex.: </a:t>
            </a:r>
            <a:r>
              <a:rPr lang="pt-BR" sz="2000" dirty="0" err="1"/>
              <a:t>int</a:t>
            </a:r>
            <a:r>
              <a:rPr lang="pt-BR" sz="2000" dirty="0"/>
              <a:t>, </a:t>
            </a:r>
            <a:r>
              <a:rPr lang="pt-BR" sz="2000" dirty="0" err="1"/>
              <a:t>float</a:t>
            </a:r>
            <a:r>
              <a:rPr lang="pt-BR" sz="2000" dirty="0"/>
              <a:t>, char, </a:t>
            </a:r>
            <a:r>
              <a:rPr lang="pt-BR" sz="2000" dirty="0" err="1"/>
              <a:t>struct</a:t>
            </a:r>
            <a:r>
              <a:rPr lang="pt-BR" sz="2000" dirty="0"/>
              <a:t>...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8645" y="2951481"/>
            <a:ext cx="6991350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Dinâmica - malloc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Operador </a:t>
            </a:r>
            <a:r>
              <a:rPr lang="pt-BR" sz="2400" b="1" dirty="0" err="1"/>
              <a:t>sizeof</a:t>
            </a:r>
            <a:r>
              <a:rPr lang="pt-BR" sz="2400" b="1" dirty="0"/>
              <a:t>()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000" dirty="0"/>
              <a:t>No exemplo anterior, </a:t>
            </a:r>
          </a:p>
          <a:p>
            <a:pPr marL="384048" lvl="2" indent="0">
              <a:buNone/>
            </a:pPr>
            <a:r>
              <a:rPr lang="pt-BR" sz="1600" dirty="0"/>
              <a:t>	</a:t>
            </a:r>
          </a:p>
          <a:p>
            <a:pPr marL="201168" lvl="1" indent="0" eaLnBrk="1" hangingPunct="1">
              <a:buNone/>
            </a:pPr>
            <a:r>
              <a:rPr lang="pt-BR" sz="2000" b="1" dirty="0">
                <a:latin typeface="Courier New" pitchFamily="49" charset="0"/>
                <a:cs typeface="Courier New" pitchFamily="49" charset="0"/>
              </a:rPr>
              <a:t>p = (</a:t>
            </a:r>
            <a:r>
              <a:rPr lang="pt-BR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>
                <a:latin typeface="Courier New" pitchFamily="49" charset="0"/>
                <a:cs typeface="Courier New" pitchFamily="49" charset="0"/>
              </a:rPr>
              <a:t> *) </a:t>
            </a:r>
            <a:r>
              <a:rPr lang="pt-BR" sz="2000" b="1" dirty="0" err="1">
                <a:latin typeface="Courier New" pitchFamily="49" charset="0"/>
                <a:cs typeface="Courier New" pitchFamily="49" charset="0"/>
              </a:rPr>
              <a:t>malloc</a:t>
            </a:r>
            <a:r>
              <a:rPr lang="pt-BR" sz="2000" b="1" dirty="0">
                <a:latin typeface="Courier New" pitchFamily="49" charset="0"/>
                <a:cs typeface="Courier New" pitchFamily="49" charset="0"/>
              </a:rPr>
              <a:t>(50*</a:t>
            </a:r>
            <a:r>
              <a:rPr lang="pt-BR" sz="2000" b="1" dirty="0" err="1">
                <a:latin typeface="Courier New" pitchFamily="49" charset="0"/>
                <a:cs typeface="Courier New" pitchFamily="49" charset="0"/>
              </a:rPr>
              <a:t>sizeof</a:t>
            </a:r>
            <a:r>
              <a:rPr lang="pt-BR" sz="20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pt-BR" sz="20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pt-BR" sz="2000" b="1" dirty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endParaRPr lang="pt-BR" sz="20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b="1" dirty="0" err="1"/>
              <a:t>sizeof</a:t>
            </a:r>
            <a:r>
              <a:rPr lang="pt-BR" sz="2000" b="1" dirty="0"/>
              <a:t>(</a:t>
            </a:r>
            <a:r>
              <a:rPr lang="pt-BR" sz="2000" b="1" dirty="0" err="1"/>
              <a:t>int</a:t>
            </a:r>
            <a:r>
              <a:rPr lang="pt-BR" sz="2000" b="1" dirty="0"/>
              <a:t>) </a:t>
            </a:r>
            <a:r>
              <a:rPr lang="pt-BR" sz="2000" dirty="0"/>
              <a:t>retorna 4 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1600" dirty="0"/>
              <a:t>número de bytes do tipo </a:t>
            </a:r>
            <a:r>
              <a:rPr lang="pt-BR" sz="1600" b="1" dirty="0" err="1"/>
              <a:t>int</a:t>
            </a:r>
            <a:r>
              <a:rPr lang="pt-BR" sz="1600" dirty="0"/>
              <a:t> na memória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000" dirty="0"/>
              <a:t>Portanto, são alocados 200 bytes (50 * 4)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200 bytes = 50 posições do tipo </a:t>
            </a:r>
            <a:r>
              <a:rPr lang="pt-BR" sz="2000" b="1" dirty="0" err="1"/>
              <a:t>int</a:t>
            </a:r>
            <a:r>
              <a:rPr lang="pt-BR" sz="2000" b="1" dirty="0"/>
              <a:t> </a:t>
            </a:r>
            <a:r>
              <a:rPr lang="pt-BR" sz="2000" dirty="0"/>
              <a:t>na memória</a:t>
            </a:r>
          </a:p>
        </p:txBody>
      </p:sp>
    </p:spTree>
    <p:extLst>
      <p:ext uri="{BB962C8B-B14F-4D97-AF65-F5344CB8AC3E}">
        <p14:creationId xmlns:p14="http://schemas.microsoft.com/office/powerpoint/2010/main" val="3965385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Dinâmica - malloc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Se não houver memória suficiente para alocar a memória requisitada, a função </a:t>
            </a:r>
            <a:r>
              <a:rPr lang="pt-BR" sz="2400" b="1" dirty="0" err="1"/>
              <a:t>malloc</a:t>
            </a:r>
            <a:r>
              <a:rPr lang="pt-BR" sz="2400" b="1" dirty="0"/>
              <a:t>()</a:t>
            </a:r>
            <a:r>
              <a:rPr lang="pt-BR" sz="2400" dirty="0"/>
              <a:t> retorna um ponteiro nulo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8686" y="3038672"/>
            <a:ext cx="5473357" cy="3313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87418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Alocação Dinâmica - </a:t>
            </a:r>
            <a:r>
              <a:rPr lang="pt-BR" dirty="0" err="1"/>
              <a:t>calloc</a:t>
            </a:r>
            <a:endParaRPr lang="pt-BR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400" b="1" dirty="0" err="1">
                <a:solidFill>
                  <a:srgbClr val="0070C0"/>
                </a:solidFill>
              </a:rPr>
              <a:t>calloc</a:t>
            </a:r>
            <a:endParaRPr lang="pt-BR" sz="2400" b="1" dirty="0">
              <a:solidFill>
                <a:srgbClr val="0070C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A função </a:t>
            </a:r>
            <a:r>
              <a:rPr lang="pt-BR" sz="2000" dirty="0" err="1"/>
              <a:t>calloc</a:t>
            </a:r>
            <a:r>
              <a:rPr lang="pt-BR" sz="2000" dirty="0"/>
              <a:t>() também serve para alocar memória, mas possui um protótipo um pouco diferente:</a:t>
            </a:r>
          </a:p>
          <a:p>
            <a:pPr marL="651510" lvl="1" indent="-285750">
              <a:buFont typeface="Wingdings" panose="05000000000000000000" pitchFamily="2" charset="2"/>
              <a:buChar char="§"/>
            </a:pPr>
            <a:endParaRPr lang="pt-BR" sz="2000" b="1" dirty="0"/>
          </a:p>
          <a:p>
            <a:pP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buFont typeface="Wingdings" panose="05000000000000000000" pitchFamily="2" charset="2"/>
              <a:buChar char="§"/>
            </a:pPr>
            <a:endParaRPr lang="pt-BR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Funcionalidade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Basicamente, a função </a:t>
            </a:r>
            <a:r>
              <a:rPr lang="pt-BR" sz="2000" dirty="0" err="1"/>
              <a:t>calloc</a:t>
            </a:r>
            <a:r>
              <a:rPr lang="pt-BR" sz="2000" dirty="0"/>
              <a:t>() faz o mesmo que a função </a:t>
            </a:r>
            <a:r>
              <a:rPr lang="pt-BR" sz="2000" dirty="0" err="1"/>
              <a:t>malloc</a:t>
            </a:r>
            <a:r>
              <a:rPr lang="pt-BR" sz="2000" dirty="0"/>
              <a:t>(). A diferença é que agora passamos a quantidade de posições a serem alocadas e o tamanho do tipo de dado alocado como parâmetros distintos da função.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667" y="3506728"/>
            <a:ext cx="6905625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7467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Alocação Dinâmica - </a:t>
            </a:r>
            <a:r>
              <a:rPr lang="pt-BR" dirty="0" err="1"/>
              <a:t>calloc</a:t>
            </a:r>
            <a:endParaRPr lang="pt-BR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000" dirty="0"/>
              <a:t>Exemplo da função </a:t>
            </a:r>
            <a:r>
              <a:rPr lang="pt-BR" sz="2000" b="1" dirty="0" err="1"/>
              <a:t>calloc</a:t>
            </a:r>
            <a:endParaRPr lang="pt-BR" sz="2000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6435" y="1976112"/>
            <a:ext cx="641985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46038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Dinâmica - realloc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400" b="1" dirty="0" err="1"/>
              <a:t>realloc</a:t>
            </a:r>
            <a:endParaRPr lang="pt-BR" sz="2400" b="1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A função </a:t>
            </a:r>
            <a:r>
              <a:rPr lang="pt-BR" sz="2000" dirty="0" err="1"/>
              <a:t>realloc</a:t>
            </a:r>
            <a:r>
              <a:rPr lang="pt-BR" sz="2000" dirty="0"/>
              <a:t>() serve para realocar memória e tem o seguinte protótipo: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pt-BR" sz="20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pt-BR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pt-BR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400" dirty="0"/>
              <a:t>Funcionalidade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A função modifica o tamanho da memória previamente alocada e apontada por </a:t>
            </a:r>
            <a:r>
              <a:rPr lang="pt-BR" sz="2000" b="1" dirty="0"/>
              <a:t>*</a:t>
            </a:r>
            <a:r>
              <a:rPr lang="pt-BR" sz="2000" b="1" dirty="0" err="1"/>
              <a:t>ptr</a:t>
            </a:r>
            <a:r>
              <a:rPr lang="pt-BR" sz="2000" dirty="0"/>
              <a:t> para aquele especificado por </a:t>
            </a:r>
            <a:r>
              <a:rPr lang="pt-BR" sz="2000" b="1" u="sng" dirty="0"/>
              <a:t>num</a:t>
            </a:r>
            <a:r>
              <a:rPr lang="pt-BR" sz="2000" dirty="0"/>
              <a:t>.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O valor de </a:t>
            </a:r>
            <a:r>
              <a:rPr lang="pt-BR" sz="2000" b="1" u="sng" dirty="0"/>
              <a:t>num</a:t>
            </a:r>
            <a:r>
              <a:rPr lang="pt-BR" sz="2000" dirty="0"/>
              <a:t> pode ser maior ou menor que o original.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6884" y="3315332"/>
            <a:ext cx="6086475" cy="41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/>
          <a:p>
            <a:pPr eaLnBrk="1" hangingPunct="1"/>
            <a:r>
              <a:rPr lang="pt-BR"/>
              <a:t>Alocação Dinâmica - realloc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 b="4713"/>
          <a:stretch>
            <a:fillRect/>
          </a:stretch>
        </p:blipFill>
        <p:spPr bwMode="auto">
          <a:xfrm>
            <a:off x="6394982" y="812799"/>
            <a:ext cx="4056348" cy="52947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41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pt-BR" sz="2400" dirty="0">
                <a:solidFill>
                  <a:srgbClr val="FFFFFF"/>
                </a:solidFill>
              </a:rPr>
              <a:t>Um ponteiro para o bloco é devolvido porque </a:t>
            </a:r>
            <a:r>
              <a:rPr lang="pt-BR" sz="2400" dirty="0" err="1">
                <a:solidFill>
                  <a:srgbClr val="FFFFFF"/>
                </a:solidFill>
              </a:rPr>
              <a:t>realloc</a:t>
            </a:r>
            <a:r>
              <a:rPr lang="pt-BR" sz="2400" dirty="0">
                <a:solidFill>
                  <a:srgbClr val="FFFFFF"/>
                </a:solidFill>
              </a:rPr>
              <a:t>() pode precisar mover o bloco para aumentar seu tamanho. </a:t>
            </a:r>
          </a:p>
          <a:p>
            <a:pPr marL="342900" indent="-342900">
              <a:buFont typeface="Wingdings" panose="05000000000000000000" pitchFamily="2" charset="2"/>
              <a:buChar char="§"/>
              <a:defRPr/>
            </a:pPr>
            <a:r>
              <a:rPr lang="pt-BR" sz="2400" dirty="0">
                <a:solidFill>
                  <a:srgbClr val="FFFFFF"/>
                </a:solidFill>
              </a:rPr>
              <a:t>Se isso ocorrer, o conteúdo do bloco antigo é copiado para o novo bloco, e nenhuma informação é perdida. </a:t>
            </a:r>
          </a:p>
        </p:txBody>
      </p:sp>
      <p:sp>
        <p:nvSpPr>
          <p:cNvPr id="17416" name="Date Placeholder 4">
            <a:extLst>
              <a:ext uri="{FF2B5EF4-FFF2-40B4-BE49-F238E27FC236}">
                <a16:creationId xmlns:a16="http://schemas.microsoft.com/office/drawing/2014/main" id="{CA28126E-73EA-7AA6-434C-7ECC2B3F5E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6F5D5688-1774-4625-9E74-88EA94DB2550}" type="datetime1">
              <a:rPr lang="pt-BR" smtClean="0"/>
              <a:pPr rtl="0">
                <a:spcAft>
                  <a:spcPts val="600"/>
                </a:spcAft>
              </a:pPr>
              <a:t>30/04/2024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Alocação Dinâmica - </a:t>
            </a:r>
            <a:r>
              <a:rPr lang="pt-BR" dirty="0" err="1"/>
              <a:t>realloc</a:t>
            </a:r>
            <a:endParaRPr lang="pt-BR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800" dirty="0"/>
              <a:t>Observações sobre </a:t>
            </a:r>
            <a:r>
              <a:rPr lang="pt-BR" sz="2800" dirty="0" err="1"/>
              <a:t>realloc</a:t>
            </a:r>
            <a:r>
              <a:rPr lang="pt-BR" sz="2800" dirty="0"/>
              <a:t>()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Se </a:t>
            </a:r>
            <a:r>
              <a:rPr lang="pt-BR" sz="2400" b="1" dirty="0"/>
              <a:t>*</a:t>
            </a:r>
            <a:r>
              <a:rPr lang="pt-BR" sz="2400" b="1" dirty="0" err="1"/>
              <a:t>ptr</a:t>
            </a:r>
            <a:r>
              <a:rPr lang="pt-BR" sz="2400" b="1" dirty="0"/>
              <a:t> </a:t>
            </a:r>
            <a:r>
              <a:rPr lang="pt-BR" sz="2400" dirty="0"/>
              <a:t>for nulo, aloca </a:t>
            </a:r>
            <a:r>
              <a:rPr lang="pt-BR" sz="2400" b="1" dirty="0"/>
              <a:t>num</a:t>
            </a:r>
            <a:r>
              <a:rPr lang="pt-BR" sz="2400" dirty="0"/>
              <a:t> bytes e devolve um ponteiro (igual </a:t>
            </a:r>
            <a:r>
              <a:rPr lang="pt-BR" sz="2400" dirty="0" err="1"/>
              <a:t>malloc</a:t>
            </a:r>
            <a:r>
              <a:rPr lang="pt-BR" sz="2400" dirty="0"/>
              <a:t>); 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se </a:t>
            </a:r>
            <a:r>
              <a:rPr lang="pt-BR" sz="2400" b="1" dirty="0"/>
              <a:t>num</a:t>
            </a:r>
            <a:r>
              <a:rPr lang="pt-BR" sz="2400" dirty="0"/>
              <a:t> é zero, a memória apontada por </a:t>
            </a:r>
            <a:r>
              <a:rPr lang="pt-BR" sz="2400" b="1" dirty="0"/>
              <a:t>*</a:t>
            </a:r>
            <a:r>
              <a:rPr lang="pt-BR" sz="2400" b="1" dirty="0" err="1"/>
              <a:t>ptr</a:t>
            </a:r>
            <a:r>
              <a:rPr lang="pt-BR" sz="2400" dirty="0"/>
              <a:t> é liberada (igual </a:t>
            </a:r>
            <a:r>
              <a:rPr lang="pt-BR" sz="2400" dirty="0" err="1"/>
              <a:t>free</a:t>
            </a:r>
            <a:r>
              <a:rPr lang="pt-BR" sz="2400" dirty="0"/>
              <a:t>). 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Se não houver memória suficiente para a alocação, um ponteiro nulo é devolvido e o bloco original é deixado inalterado.</a:t>
            </a:r>
          </a:p>
          <a:p>
            <a:pPr lvl="1" eaLnBrk="1" hangingPunct="1"/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Alocação Dinâmica - </a:t>
            </a:r>
            <a:r>
              <a:rPr lang="pt-BR" dirty="0" err="1"/>
              <a:t>free</a:t>
            </a:r>
            <a:endParaRPr lang="pt-BR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400" b="1" dirty="0" err="1">
                <a:solidFill>
                  <a:srgbClr val="0070C0"/>
                </a:solidFill>
              </a:rPr>
              <a:t>free</a:t>
            </a:r>
            <a:endParaRPr lang="pt-BR" sz="2400" b="1" dirty="0">
              <a:solidFill>
                <a:srgbClr val="0070C0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Diferente das variáveis definidas durante a escrita do programa, as variáveis alocadas dinamicamente não são liberadas automaticamente pelo programa.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Quando alocamos memória dinamicamente é necessário que nós a liberemos quando ela não for mais necessária.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Para isto existe a função </a:t>
            </a:r>
            <a:r>
              <a:rPr lang="pt-BR" sz="2000" b="1" dirty="0" err="1"/>
              <a:t>free</a:t>
            </a:r>
            <a:r>
              <a:rPr lang="pt-BR" sz="2000" b="1" dirty="0"/>
              <a:t>()</a:t>
            </a:r>
            <a:r>
              <a:rPr lang="pt-BR" sz="2000" dirty="0"/>
              <a:t> cujo protótipo é: </a:t>
            </a:r>
          </a:p>
          <a:p>
            <a:pPr lvl="1" eaLnBrk="1" hangingPunct="1"/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57739" y="4643447"/>
            <a:ext cx="2676525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110636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Alocação Dinâmica - </a:t>
            </a:r>
            <a:r>
              <a:rPr lang="pt-BR" dirty="0" err="1"/>
              <a:t>free</a:t>
            </a:r>
            <a:endParaRPr lang="pt-BR" dirty="0"/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800" dirty="0"/>
              <a:t>Assim, para liberar a memória, basta passar como parâmetro para a função </a:t>
            </a:r>
            <a:r>
              <a:rPr lang="pt-BR" sz="2800" dirty="0" err="1"/>
              <a:t>free</a:t>
            </a:r>
            <a:r>
              <a:rPr lang="pt-BR" sz="2800" dirty="0"/>
              <a:t>() o ponteiro que aponta para o início da memória a ser </a:t>
            </a:r>
            <a:r>
              <a:rPr lang="pt-BR" sz="2800" dirty="0" err="1"/>
              <a:t>desalocada</a:t>
            </a:r>
            <a:r>
              <a:rPr lang="pt-BR" sz="2800" dirty="0"/>
              <a:t>.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800" dirty="0"/>
              <a:t>Como o programa sabe quantos bytes devem ser liberados? 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Quando se aloca a memória, o programa guarda o número de bytes alocados numa "tabela de alocação" interna.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Dinâmica - free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Exemplo da função </a:t>
            </a:r>
            <a:r>
              <a:rPr lang="pt-BR" sz="2400" b="1" dirty="0" err="1"/>
              <a:t>free</a:t>
            </a:r>
            <a:r>
              <a:rPr lang="pt-BR" sz="2400" b="1" dirty="0"/>
              <a:t>()</a:t>
            </a:r>
            <a:endParaRPr lang="pt-BR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7728" y="1994741"/>
            <a:ext cx="5531232" cy="4271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de </a:t>
            </a:r>
            <a:r>
              <a:rPr lang="pt-BR" dirty="0" err="1"/>
              <a:t>arrays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Para armazenar um </a:t>
            </a:r>
            <a:r>
              <a:rPr lang="pt-BR" sz="2800" dirty="0" err="1"/>
              <a:t>array</a:t>
            </a:r>
            <a:r>
              <a:rPr lang="pt-BR" sz="2800" dirty="0"/>
              <a:t> o compilador C calcula o tamanho, em bytes, necessário e reserva posições sequenciais na memória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/>
              <a:t>Note que isso é muito parecido com alocação dinâmica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Existe uma ligação muito forte entre ponteiros e </a:t>
            </a:r>
            <a:r>
              <a:rPr lang="pt-BR" sz="2800" dirty="0" err="1"/>
              <a:t>arrays</a:t>
            </a:r>
            <a:r>
              <a:rPr lang="pt-BR" sz="2800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/>
              <a:t>O nome do </a:t>
            </a:r>
            <a:r>
              <a:rPr lang="pt-BR" sz="2400" dirty="0" err="1"/>
              <a:t>array</a:t>
            </a:r>
            <a:r>
              <a:rPr lang="pt-BR" sz="2400" dirty="0"/>
              <a:t> é apenas um ponteiro que aponta para o primeiro elemento do </a:t>
            </a:r>
            <a:r>
              <a:rPr lang="pt-BR" sz="2400" dirty="0" err="1"/>
              <a:t>array</a:t>
            </a:r>
            <a:r>
              <a:rPr lang="pt-BR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5979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de arrays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400" dirty="0"/>
              <a:t>Ao alocarmos memória estamos, na verdade, alocando um </a:t>
            </a:r>
            <a:r>
              <a:rPr lang="pt-BR" sz="2400" dirty="0" err="1"/>
              <a:t>array</a:t>
            </a:r>
            <a:r>
              <a:rPr lang="pt-BR" sz="2400" dirty="0"/>
              <a:t>.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870200" y="2689226"/>
            <a:ext cx="6775450" cy="3457575"/>
            <a:chOff x="838200" y="2638425"/>
            <a:chExt cx="6775450" cy="3457575"/>
          </a:xfrm>
        </p:grpSpPr>
        <p:grpSp>
          <p:nvGrpSpPr>
            <p:cNvPr id="23556" name="Group 4"/>
            <p:cNvGrpSpPr>
              <a:grpSpLocks/>
            </p:cNvGrpSpPr>
            <p:nvPr/>
          </p:nvGrpSpPr>
          <p:grpSpPr bwMode="auto">
            <a:xfrm>
              <a:off x="1676400" y="5105400"/>
              <a:ext cx="5937250" cy="990600"/>
              <a:chOff x="1008" y="2985"/>
              <a:chExt cx="3740" cy="624"/>
            </a:xfrm>
          </p:grpSpPr>
          <p:grpSp>
            <p:nvGrpSpPr>
              <p:cNvPr id="23559" name="Group 5"/>
              <p:cNvGrpSpPr>
                <a:grpSpLocks/>
              </p:cNvGrpSpPr>
              <p:nvPr/>
            </p:nvGrpSpPr>
            <p:grpSpPr bwMode="auto">
              <a:xfrm>
                <a:off x="1008" y="2985"/>
                <a:ext cx="624" cy="624"/>
                <a:chOff x="576" y="2880"/>
                <a:chExt cx="624" cy="624"/>
              </a:xfrm>
            </p:grpSpPr>
            <p:sp>
              <p:nvSpPr>
                <p:cNvPr id="23575" name="Rectangle 6"/>
                <p:cNvSpPr>
                  <a:spLocks noChangeArrowheads="1"/>
                </p:cNvSpPr>
                <p:nvPr/>
              </p:nvSpPr>
              <p:spPr bwMode="auto">
                <a:xfrm>
                  <a:off x="576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6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pt-BR" b="1"/>
                    <a:t>0</a:t>
                  </a:r>
                </a:p>
              </p:txBody>
            </p:sp>
          </p:grpSp>
          <p:grpSp>
            <p:nvGrpSpPr>
              <p:cNvPr id="23560" name="Group 8"/>
              <p:cNvGrpSpPr>
                <a:grpSpLocks/>
              </p:cNvGrpSpPr>
              <p:nvPr/>
            </p:nvGrpSpPr>
            <p:grpSpPr bwMode="auto">
              <a:xfrm>
                <a:off x="1628" y="2985"/>
                <a:ext cx="624" cy="624"/>
                <a:chOff x="572" y="2880"/>
                <a:chExt cx="624" cy="624"/>
              </a:xfrm>
            </p:grpSpPr>
            <p:sp>
              <p:nvSpPr>
                <p:cNvPr id="23573" name="Rectangle 9"/>
                <p:cNvSpPr>
                  <a:spLocks noChangeArrowheads="1"/>
                </p:cNvSpPr>
                <p:nvPr/>
              </p:nvSpPr>
              <p:spPr bwMode="auto">
                <a:xfrm>
                  <a:off x="572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4" name="Text Box 10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pt-BR" b="1"/>
                    <a:t>1</a:t>
                  </a:r>
                </a:p>
              </p:txBody>
            </p:sp>
          </p:grpSp>
          <p:grpSp>
            <p:nvGrpSpPr>
              <p:cNvPr id="23561" name="Group 11"/>
              <p:cNvGrpSpPr>
                <a:grpSpLocks/>
              </p:cNvGrpSpPr>
              <p:nvPr/>
            </p:nvGrpSpPr>
            <p:grpSpPr bwMode="auto">
              <a:xfrm>
                <a:off x="2252" y="2985"/>
                <a:ext cx="624" cy="624"/>
                <a:chOff x="572" y="2880"/>
                <a:chExt cx="624" cy="624"/>
              </a:xfrm>
            </p:grpSpPr>
            <p:sp>
              <p:nvSpPr>
                <p:cNvPr id="23571" name="Rectangle 12"/>
                <p:cNvSpPr>
                  <a:spLocks noChangeArrowheads="1"/>
                </p:cNvSpPr>
                <p:nvPr/>
              </p:nvSpPr>
              <p:spPr bwMode="auto">
                <a:xfrm>
                  <a:off x="572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2" name="Text Box 13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pt-BR" b="1"/>
                    <a:t>...</a:t>
                  </a:r>
                </a:p>
              </p:txBody>
            </p:sp>
          </p:grpSp>
          <p:grpSp>
            <p:nvGrpSpPr>
              <p:cNvPr id="23562" name="Group 14"/>
              <p:cNvGrpSpPr>
                <a:grpSpLocks/>
              </p:cNvGrpSpPr>
              <p:nvPr/>
            </p:nvGrpSpPr>
            <p:grpSpPr bwMode="auto">
              <a:xfrm>
                <a:off x="2876" y="2985"/>
                <a:ext cx="624" cy="624"/>
                <a:chOff x="572" y="2880"/>
                <a:chExt cx="624" cy="624"/>
              </a:xfrm>
            </p:grpSpPr>
            <p:sp>
              <p:nvSpPr>
                <p:cNvPr id="23569" name="Rectangle 15"/>
                <p:cNvSpPr>
                  <a:spLocks noChangeArrowheads="1"/>
                </p:cNvSpPr>
                <p:nvPr/>
              </p:nvSpPr>
              <p:spPr bwMode="auto">
                <a:xfrm>
                  <a:off x="572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70" name="Text Box 16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 b="1"/>
                </a:p>
              </p:txBody>
            </p:sp>
          </p:grpSp>
          <p:grpSp>
            <p:nvGrpSpPr>
              <p:cNvPr id="23563" name="Group 17"/>
              <p:cNvGrpSpPr>
                <a:grpSpLocks/>
              </p:cNvGrpSpPr>
              <p:nvPr/>
            </p:nvGrpSpPr>
            <p:grpSpPr bwMode="auto">
              <a:xfrm>
                <a:off x="3500" y="2985"/>
                <a:ext cx="624" cy="624"/>
                <a:chOff x="572" y="2880"/>
                <a:chExt cx="624" cy="624"/>
              </a:xfrm>
            </p:grpSpPr>
            <p:sp>
              <p:nvSpPr>
                <p:cNvPr id="23567" name="Rectangle 18"/>
                <p:cNvSpPr>
                  <a:spLocks noChangeArrowheads="1"/>
                </p:cNvSpPr>
                <p:nvPr/>
              </p:nvSpPr>
              <p:spPr bwMode="auto">
                <a:xfrm>
                  <a:off x="572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8" name="Text Box 19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endParaRPr lang="en-US" b="1"/>
                </a:p>
              </p:txBody>
            </p:sp>
          </p:grpSp>
          <p:grpSp>
            <p:nvGrpSpPr>
              <p:cNvPr id="23564" name="Group 20"/>
              <p:cNvGrpSpPr>
                <a:grpSpLocks/>
              </p:cNvGrpSpPr>
              <p:nvPr/>
            </p:nvGrpSpPr>
            <p:grpSpPr bwMode="auto">
              <a:xfrm>
                <a:off x="4124" y="2985"/>
                <a:ext cx="624" cy="624"/>
                <a:chOff x="572" y="2880"/>
                <a:chExt cx="624" cy="624"/>
              </a:xfrm>
            </p:grpSpPr>
            <p:sp>
              <p:nvSpPr>
                <p:cNvPr id="23565" name="Rectangle 21"/>
                <p:cNvSpPr>
                  <a:spLocks noChangeArrowheads="1"/>
                </p:cNvSpPr>
                <p:nvPr/>
              </p:nvSpPr>
              <p:spPr bwMode="auto">
                <a:xfrm>
                  <a:off x="572" y="3120"/>
                  <a:ext cx="624" cy="384"/>
                </a:xfrm>
                <a:prstGeom prst="rect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566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20" y="2880"/>
                  <a:ext cx="33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cs typeface="Arial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</a:pPr>
                  <a:r>
                    <a:rPr lang="pt-BR" b="1"/>
                    <a:t>99</a:t>
                  </a:r>
                </a:p>
              </p:txBody>
            </p:sp>
          </p:grpSp>
        </p:grpSp>
        <p:sp>
          <p:nvSpPr>
            <p:cNvPr id="23557" name="Text Box 23"/>
            <p:cNvSpPr txBox="1">
              <a:spLocks noChangeArrowheads="1"/>
            </p:cNvSpPr>
            <p:nvPr/>
          </p:nvSpPr>
          <p:spPr bwMode="auto">
            <a:xfrm>
              <a:off x="838200" y="5508625"/>
              <a:ext cx="381000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pt-BR" sz="2800" dirty="0"/>
                <a:t>p</a:t>
              </a:r>
            </a:p>
          </p:txBody>
        </p:sp>
        <p:sp>
          <p:nvSpPr>
            <p:cNvPr id="23558" name="Line 24"/>
            <p:cNvSpPr>
              <a:spLocks noChangeShapeType="1"/>
            </p:cNvSpPr>
            <p:nvPr/>
          </p:nvSpPr>
          <p:spPr bwMode="auto">
            <a:xfrm>
              <a:off x="1295400" y="5770563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62188" y="2638425"/>
              <a:ext cx="4619625" cy="18573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de arrays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Note, no entanto, que o </a:t>
            </a:r>
            <a:r>
              <a:rPr lang="pt-BR" sz="2400" dirty="0" err="1"/>
              <a:t>array</a:t>
            </a:r>
            <a:r>
              <a:rPr lang="pt-BR" sz="2400" dirty="0"/>
              <a:t> alocado possui apenas uma dimensão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Para liberá-lo da memória, basta chamar a função </a:t>
            </a:r>
            <a:r>
              <a:rPr lang="pt-BR" sz="2400" dirty="0" err="1"/>
              <a:t>free</a:t>
            </a:r>
            <a:r>
              <a:rPr lang="pt-BR" sz="2400" dirty="0"/>
              <a:t>() ao final do programa:</a:t>
            </a:r>
          </a:p>
          <a:p>
            <a:pPr eaLnBrk="1" hangingPunct="1"/>
            <a:endParaRPr lang="pt-BR" dirty="0"/>
          </a:p>
        </p:txBody>
      </p:sp>
      <p:grpSp>
        <p:nvGrpSpPr>
          <p:cNvPr id="3" name="Grupo 2"/>
          <p:cNvGrpSpPr/>
          <p:nvPr/>
        </p:nvGrpSpPr>
        <p:grpSpPr>
          <a:xfrm>
            <a:off x="4320859" y="3572933"/>
            <a:ext cx="4505325" cy="2667000"/>
            <a:chOff x="2319338" y="3505200"/>
            <a:chExt cx="4505325" cy="266700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19338" y="3505200"/>
              <a:ext cx="4505325" cy="2600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tângulo 1"/>
            <p:cNvSpPr/>
            <p:nvPr/>
          </p:nvSpPr>
          <p:spPr>
            <a:xfrm>
              <a:off x="2319338" y="5791200"/>
              <a:ext cx="1109662" cy="3810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de arrays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800" dirty="0"/>
              <a:t>Para alocarmos </a:t>
            </a:r>
            <a:r>
              <a:rPr lang="pt-BR" sz="2800" dirty="0" err="1"/>
              <a:t>arrays</a:t>
            </a:r>
            <a:r>
              <a:rPr lang="pt-BR" sz="2800" dirty="0"/>
              <a:t> com mais de uma dimensão, utilizamos o conceito de “ponteiro para ponteiro”.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Ex.: char ***p3;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800" dirty="0"/>
              <a:t>Para cada nível do ponteiro, fazemos a alocação de uma dimensão do </a:t>
            </a:r>
            <a:r>
              <a:rPr lang="pt-BR" sz="2800" dirty="0" err="1"/>
              <a:t>array</a:t>
            </a:r>
            <a:r>
              <a:rPr lang="pt-BR" sz="2800"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de arrays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Conceito de “ponteiro para ponteiro”: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6" y="2933700"/>
            <a:ext cx="2409825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711132"/>
              </p:ext>
            </p:extLst>
          </p:nvPr>
        </p:nvGraphicFramePr>
        <p:xfrm>
          <a:off x="7360920" y="2042160"/>
          <a:ext cx="37338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Memória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char ***p3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char **p2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char *p1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char letra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‘a’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cxnSp>
        <p:nvCxnSpPr>
          <p:cNvPr id="6" name="Conector angulado 5"/>
          <p:cNvCxnSpPr/>
          <p:nvPr/>
        </p:nvCxnSpPr>
        <p:spPr>
          <a:xfrm>
            <a:off x="10866120" y="3413760"/>
            <a:ext cx="1588" cy="68580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angulado 10"/>
          <p:cNvCxnSpPr/>
          <p:nvPr/>
        </p:nvCxnSpPr>
        <p:spPr>
          <a:xfrm>
            <a:off x="7513321" y="4099560"/>
            <a:ext cx="1587" cy="685800"/>
          </a:xfrm>
          <a:prstGeom prst="bentConnector3">
            <a:avLst>
              <a:gd name="adj1" fmla="val -18381933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angulado 15"/>
          <p:cNvCxnSpPr/>
          <p:nvPr/>
        </p:nvCxnSpPr>
        <p:spPr>
          <a:xfrm>
            <a:off x="10866120" y="4785360"/>
            <a:ext cx="1588" cy="685800"/>
          </a:xfrm>
          <a:prstGeom prst="bentConnector3">
            <a:avLst>
              <a:gd name="adj1" fmla="val 2768363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de arrays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1097280" y="2108201"/>
            <a:ext cx="5974080" cy="3760891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000" dirty="0"/>
              <a:t>Em um ponteiro para ponteiro, cada nível do ponteiro permite criar uma nova dimensão no </a:t>
            </a:r>
            <a:r>
              <a:rPr lang="pt-BR" sz="2000" dirty="0" err="1"/>
              <a:t>array</a:t>
            </a:r>
            <a:r>
              <a:rPr lang="pt-BR" sz="2000" dirty="0"/>
              <a:t>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636" y="3509375"/>
            <a:ext cx="4867922" cy="20283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4" name="Tabela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650139"/>
              </p:ext>
            </p:extLst>
          </p:nvPr>
        </p:nvGraphicFramePr>
        <p:xfrm>
          <a:off x="7735558" y="1925320"/>
          <a:ext cx="3733800" cy="445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Memória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solidFill>
                            <a:schemeClr val="bg1"/>
                          </a:solidFill>
                        </a:rPr>
                        <a:t>posição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solidFill>
                            <a:schemeClr val="bg1"/>
                          </a:solidFill>
                        </a:rPr>
                        <a:t>variável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0" dirty="0">
                          <a:solidFill>
                            <a:schemeClr val="bg1"/>
                          </a:solidFill>
                        </a:rPr>
                        <a:t>conteúdo</a:t>
                      </a:r>
                      <a:endParaRPr lang="en-US" b="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err="1"/>
                        <a:t>int</a:t>
                      </a:r>
                      <a:r>
                        <a:rPr lang="pt-BR" dirty="0"/>
                        <a:t> **p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p[0]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123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p[1]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p[0][0]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p[0][1]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74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p[1][0]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p[1][1]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cxnSp>
        <p:nvCxnSpPr>
          <p:cNvPr id="11" name="Conector angulado 10"/>
          <p:cNvCxnSpPr/>
          <p:nvPr/>
        </p:nvCxnSpPr>
        <p:spPr>
          <a:xfrm>
            <a:off x="11164558" y="2866072"/>
            <a:ext cx="1588" cy="319088"/>
          </a:xfrm>
          <a:prstGeom prst="bentConnector3">
            <a:avLst>
              <a:gd name="adj1" fmla="val 25026015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angulado 11"/>
          <p:cNvCxnSpPr/>
          <p:nvPr/>
        </p:nvCxnSpPr>
        <p:spPr>
          <a:xfrm rot="10800000" flipV="1">
            <a:off x="10324770" y="3275648"/>
            <a:ext cx="1588" cy="1052512"/>
          </a:xfrm>
          <a:prstGeom prst="bentConnector3">
            <a:avLst>
              <a:gd name="adj1" fmla="val 18824880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angulado 12"/>
          <p:cNvCxnSpPr/>
          <p:nvPr/>
        </p:nvCxnSpPr>
        <p:spPr>
          <a:xfrm>
            <a:off x="11146452" y="3566159"/>
            <a:ext cx="1588" cy="1872000"/>
          </a:xfrm>
          <a:prstGeom prst="bentConnector3">
            <a:avLst>
              <a:gd name="adj1" fmla="val 26797678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de arrays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pt-BR" sz="2400" dirty="0"/>
              <a:t>Em um ponteiro para ponteiro, cada nível do ponteiro permite criar uma nova dimensão no </a:t>
            </a:r>
            <a:r>
              <a:rPr lang="pt-BR" sz="2400" dirty="0" err="1"/>
              <a:t>array</a:t>
            </a:r>
            <a:r>
              <a:rPr lang="pt-BR" sz="2400" dirty="0"/>
              <a:t>. </a:t>
            </a:r>
          </a:p>
        </p:txBody>
      </p:sp>
      <p:grpSp>
        <p:nvGrpSpPr>
          <p:cNvPr id="48" name="Grupo 47"/>
          <p:cNvGrpSpPr/>
          <p:nvPr/>
        </p:nvGrpSpPr>
        <p:grpSpPr>
          <a:xfrm>
            <a:off x="3190240" y="2771126"/>
            <a:ext cx="7543800" cy="3934474"/>
            <a:chOff x="381000" y="2466326"/>
            <a:chExt cx="7543800" cy="3934474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896" b="35773"/>
            <a:stretch/>
          </p:blipFill>
          <p:spPr bwMode="auto">
            <a:xfrm>
              <a:off x="1757039" y="2466326"/>
              <a:ext cx="4867922" cy="8788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tângulo 1"/>
            <p:cNvSpPr/>
            <p:nvPr/>
          </p:nvSpPr>
          <p:spPr>
            <a:xfrm>
              <a:off x="1828800" y="4777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r>
                <a:rPr lang="pt-BR" dirty="0"/>
                <a:t>*</a:t>
              </a:r>
              <a:endParaRPr lang="en-US" dirty="0"/>
            </a:p>
          </p:txBody>
        </p:sp>
        <p:sp>
          <p:nvSpPr>
            <p:cNvPr id="10" name="Retângulo 9"/>
            <p:cNvSpPr/>
            <p:nvPr/>
          </p:nvSpPr>
          <p:spPr>
            <a:xfrm>
              <a:off x="1828800" y="5158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r>
                <a:rPr lang="pt-BR" dirty="0"/>
                <a:t>*</a:t>
              </a:r>
              <a:endParaRPr lang="en-US" dirty="0"/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1828800" y="5539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r>
                <a:rPr lang="pt-BR" dirty="0"/>
                <a:t>*</a:t>
              </a:r>
              <a:endParaRPr lang="en-US" dirty="0"/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1828800" y="5920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r>
                <a:rPr lang="pt-BR" dirty="0"/>
                <a:t>*</a:t>
              </a:r>
              <a:endParaRPr lang="en-US" dirty="0"/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4191000" y="4777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r>
                <a:rPr lang="pt-BR" dirty="0"/>
                <a:t>*</a:t>
              </a:r>
              <a:endParaRPr lang="en-US" dirty="0"/>
            </a:p>
          </p:txBody>
        </p:sp>
        <p:sp>
          <p:nvSpPr>
            <p:cNvPr id="18" name="Retângulo 17"/>
            <p:cNvSpPr/>
            <p:nvPr/>
          </p:nvSpPr>
          <p:spPr>
            <a:xfrm>
              <a:off x="4191000" y="5158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r>
                <a:rPr lang="pt-BR" dirty="0"/>
                <a:t>*</a:t>
              </a:r>
              <a:endParaRPr lang="en-US" dirty="0"/>
            </a:p>
          </p:txBody>
        </p:sp>
        <p:sp>
          <p:nvSpPr>
            <p:cNvPr id="19" name="Retângulo 18"/>
            <p:cNvSpPr/>
            <p:nvPr/>
          </p:nvSpPr>
          <p:spPr>
            <a:xfrm>
              <a:off x="4191000" y="5539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r>
                <a:rPr lang="pt-BR" dirty="0"/>
                <a:t>*</a:t>
              </a:r>
              <a:endParaRPr lang="en-US" dirty="0"/>
            </a:p>
          </p:txBody>
        </p:sp>
        <p:sp>
          <p:nvSpPr>
            <p:cNvPr id="20" name="Retângulo 19"/>
            <p:cNvSpPr/>
            <p:nvPr/>
          </p:nvSpPr>
          <p:spPr>
            <a:xfrm>
              <a:off x="4191000" y="5920668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r>
                <a:rPr lang="pt-BR" dirty="0"/>
                <a:t>*</a:t>
              </a:r>
              <a:endParaRPr lang="en-US" dirty="0"/>
            </a:p>
          </p:txBody>
        </p:sp>
        <p:sp>
          <p:nvSpPr>
            <p:cNvPr id="21" name="Retângulo 20"/>
            <p:cNvSpPr/>
            <p:nvPr/>
          </p:nvSpPr>
          <p:spPr>
            <a:xfrm>
              <a:off x="5486400" y="46482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22" name="Retângulo 21"/>
            <p:cNvSpPr/>
            <p:nvPr/>
          </p:nvSpPr>
          <p:spPr>
            <a:xfrm>
              <a:off x="5486400" y="51054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23" name="Retângulo 22"/>
            <p:cNvSpPr/>
            <p:nvPr/>
          </p:nvSpPr>
          <p:spPr>
            <a:xfrm>
              <a:off x="5486400" y="55626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24" name="Retângulo 23"/>
            <p:cNvSpPr/>
            <p:nvPr/>
          </p:nvSpPr>
          <p:spPr>
            <a:xfrm>
              <a:off x="5486400" y="60198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25" name="Retângulo 24"/>
            <p:cNvSpPr/>
            <p:nvPr/>
          </p:nvSpPr>
          <p:spPr>
            <a:xfrm>
              <a:off x="6096000" y="46482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26" name="Retângulo 25"/>
            <p:cNvSpPr/>
            <p:nvPr/>
          </p:nvSpPr>
          <p:spPr>
            <a:xfrm>
              <a:off x="6096000" y="51054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6096000" y="55626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28" name="Retângulo 27"/>
            <p:cNvSpPr/>
            <p:nvPr/>
          </p:nvSpPr>
          <p:spPr>
            <a:xfrm>
              <a:off x="6096000" y="60198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29" name="Retângulo 28"/>
            <p:cNvSpPr/>
            <p:nvPr/>
          </p:nvSpPr>
          <p:spPr>
            <a:xfrm>
              <a:off x="6705600" y="46482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30" name="Retângulo 29"/>
            <p:cNvSpPr/>
            <p:nvPr/>
          </p:nvSpPr>
          <p:spPr>
            <a:xfrm>
              <a:off x="6705600" y="51054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31" name="Retângulo 30"/>
            <p:cNvSpPr/>
            <p:nvPr/>
          </p:nvSpPr>
          <p:spPr>
            <a:xfrm>
              <a:off x="6705600" y="55626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32" name="Retângulo 31"/>
            <p:cNvSpPr/>
            <p:nvPr/>
          </p:nvSpPr>
          <p:spPr>
            <a:xfrm>
              <a:off x="6705600" y="60198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33" name="Retângulo 32"/>
            <p:cNvSpPr/>
            <p:nvPr/>
          </p:nvSpPr>
          <p:spPr>
            <a:xfrm>
              <a:off x="7315200" y="46482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34" name="Retângulo 33"/>
            <p:cNvSpPr/>
            <p:nvPr/>
          </p:nvSpPr>
          <p:spPr>
            <a:xfrm>
              <a:off x="7315200" y="51054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35" name="Retângulo 34"/>
            <p:cNvSpPr/>
            <p:nvPr/>
          </p:nvSpPr>
          <p:spPr>
            <a:xfrm>
              <a:off x="7315200" y="55626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sp>
          <p:nvSpPr>
            <p:cNvPr id="36" name="Retângulo 35"/>
            <p:cNvSpPr/>
            <p:nvPr/>
          </p:nvSpPr>
          <p:spPr>
            <a:xfrm>
              <a:off x="7315200" y="6019800"/>
              <a:ext cx="609600" cy="38100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 err="1"/>
                <a:t>int</a:t>
              </a:r>
              <a:endParaRPr lang="en-US" dirty="0"/>
            </a:p>
          </p:txBody>
        </p:sp>
        <p:cxnSp>
          <p:nvCxnSpPr>
            <p:cNvPr id="4" name="Conector de seta reta 3"/>
            <p:cNvCxnSpPr>
              <a:stCxn id="17" idx="3"/>
              <a:endCxn id="21" idx="1"/>
            </p:cNvCxnSpPr>
            <p:nvPr/>
          </p:nvCxnSpPr>
          <p:spPr>
            <a:xfrm flipV="1">
              <a:off x="4800600" y="4838700"/>
              <a:ext cx="685800" cy="1294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de seta reta 36"/>
            <p:cNvCxnSpPr>
              <a:stCxn id="18" idx="3"/>
              <a:endCxn id="22" idx="1"/>
            </p:cNvCxnSpPr>
            <p:nvPr/>
          </p:nvCxnSpPr>
          <p:spPr>
            <a:xfrm flipV="1">
              <a:off x="4800600" y="5295900"/>
              <a:ext cx="685800" cy="532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de seta reta 37"/>
            <p:cNvCxnSpPr>
              <a:stCxn id="19" idx="3"/>
              <a:endCxn id="23" idx="1"/>
            </p:cNvCxnSpPr>
            <p:nvPr/>
          </p:nvCxnSpPr>
          <p:spPr>
            <a:xfrm>
              <a:off x="4800600" y="5730168"/>
              <a:ext cx="685800" cy="229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de seta reta 40"/>
            <p:cNvCxnSpPr>
              <a:stCxn id="20" idx="3"/>
              <a:endCxn id="24" idx="1"/>
            </p:cNvCxnSpPr>
            <p:nvPr/>
          </p:nvCxnSpPr>
          <p:spPr>
            <a:xfrm>
              <a:off x="4800600" y="6111168"/>
              <a:ext cx="685800" cy="9913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CaixaDeTexto 39"/>
            <p:cNvSpPr txBox="1"/>
            <p:nvPr/>
          </p:nvSpPr>
          <p:spPr>
            <a:xfrm>
              <a:off x="381000" y="3429000"/>
              <a:ext cx="1905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1º </a:t>
              </a:r>
              <a:r>
                <a:rPr lang="pt-BR" dirty="0" err="1"/>
                <a:t>malloc</a:t>
              </a:r>
              <a:r>
                <a:rPr lang="pt-BR" dirty="0"/>
                <a:t>: </a:t>
              </a:r>
            </a:p>
            <a:p>
              <a:r>
                <a:rPr lang="pt-BR" dirty="0"/>
                <a:t>cria as linhas</a:t>
              </a:r>
              <a:endParaRPr lang="en-US" dirty="0"/>
            </a:p>
          </p:txBody>
        </p:sp>
        <p:sp>
          <p:nvSpPr>
            <p:cNvPr id="45" name="CaixaDeTexto 44"/>
            <p:cNvSpPr txBox="1"/>
            <p:nvPr/>
          </p:nvSpPr>
          <p:spPr>
            <a:xfrm>
              <a:off x="5867400" y="3429000"/>
              <a:ext cx="19050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2º </a:t>
              </a:r>
              <a:r>
                <a:rPr lang="pt-BR" dirty="0" err="1"/>
                <a:t>malloc</a:t>
              </a:r>
              <a:r>
                <a:rPr lang="pt-BR" dirty="0"/>
                <a:t>: </a:t>
              </a:r>
            </a:p>
            <a:p>
              <a:r>
                <a:rPr lang="pt-BR" dirty="0"/>
                <a:t>cria as colunas</a:t>
              </a:r>
              <a:endParaRPr lang="en-US" dirty="0"/>
            </a:p>
          </p:txBody>
        </p:sp>
        <p:sp>
          <p:nvSpPr>
            <p:cNvPr id="46" name="CaixaDeTexto 45"/>
            <p:cNvSpPr txBox="1"/>
            <p:nvPr/>
          </p:nvSpPr>
          <p:spPr>
            <a:xfrm>
              <a:off x="838200" y="419100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int</a:t>
              </a:r>
              <a:r>
                <a:rPr lang="pt-BR" dirty="0"/>
                <a:t> **p;</a:t>
              </a:r>
              <a:endParaRPr lang="en-US" dirty="0"/>
            </a:p>
          </p:txBody>
        </p:sp>
        <p:cxnSp>
          <p:nvCxnSpPr>
            <p:cNvPr id="47" name="Conector angulado 46"/>
            <p:cNvCxnSpPr>
              <a:stCxn id="46" idx="3"/>
              <a:endCxn id="2" idx="0"/>
            </p:cNvCxnSpPr>
            <p:nvPr/>
          </p:nvCxnSpPr>
          <p:spPr>
            <a:xfrm>
              <a:off x="1752600" y="4514166"/>
              <a:ext cx="381000" cy="263502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aixaDeTexto 49"/>
            <p:cNvSpPr txBox="1"/>
            <p:nvPr/>
          </p:nvSpPr>
          <p:spPr>
            <a:xfrm>
              <a:off x="3276600" y="4191000"/>
              <a:ext cx="914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err="1"/>
                <a:t>int</a:t>
              </a:r>
              <a:r>
                <a:rPr lang="pt-BR" dirty="0"/>
                <a:t> **p;</a:t>
              </a:r>
              <a:endParaRPr lang="en-US" dirty="0"/>
            </a:p>
          </p:txBody>
        </p:sp>
        <p:cxnSp>
          <p:nvCxnSpPr>
            <p:cNvPr id="51" name="Conector angulado 50"/>
            <p:cNvCxnSpPr>
              <a:stCxn id="50" idx="3"/>
              <a:endCxn id="17" idx="0"/>
            </p:cNvCxnSpPr>
            <p:nvPr/>
          </p:nvCxnSpPr>
          <p:spPr>
            <a:xfrm>
              <a:off x="4191000" y="4514166"/>
              <a:ext cx="304800" cy="263502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586629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de arrays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Diferente dos </a:t>
            </a:r>
            <a:r>
              <a:rPr lang="pt-BR" sz="2400" dirty="0" err="1"/>
              <a:t>arrays</a:t>
            </a:r>
            <a:r>
              <a:rPr lang="pt-BR" sz="2400" dirty="0"/>
              <a:t> de uma dimensão, para liberar um </a:t>
            </a:r>
            <a:r>
              <a:rPr lang="pt-BR" sz="2400" dirty="0" err="1"/>
              <a:t>array</a:t>
            </a:r>
            <a:r>
              <a:rPr lang="pt-BR" sz="2400" dirty="0"/>
              <a:t> com mais de uma dimensão da memória, é preciso liberar a memória alocada em cada uma de suas dimensões, na ordem inversa da que foi alocada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/>
              <a:t>Alocação de arrays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A19ED-299E-C7FB-1AFC-8901106C9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grpSp>
        <p:nvGrpSpPr>
          <p:cNvPr id="3" name="Grupo 2"/>
          <p:cNvGrpSpPr/>
          <p:nvPr/>
        </p:nvGrpSpPr>
        <p:grpSpPr>
          <a:xfrm>
            <a:off x="3642360" y="2352041"/>
            <a:ext cx="5695950" cy="3362325"/>
            <a:chOff x="1676400" y="1981200"/>
            <a:chExt cx="5695950" cy="3362325"/>
          </a:xfrm>
        </p:grpSpPr>
        <p:pic>
          <p:nvPicPr>
            <p:cNvPr id="512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1650" y="1981200"/>
              <a:ext cx="5600700" cy="3362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Retângulo 1"/>
            <p:cNvSpPr/>
            <p:nvPr/>
          </p:nvSpPr>
          <p:spPr>
            <a:xfrm>
              <a:off x="1676400" y="4495800"/>
              <a:ext cx="3276600" cy="84772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Alocação de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Assim como os tipos básicos, também é possível fazer a alocação dinâmica de estruturas. 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sz="2400" dirty="0"/>
              <a:t>As regras são exatamente as mesmas para a alocação de uma </a:t>
            </a:r>
            <a:r>
              <a:rPr lang="pt-BR" sz="2400" b="1" dirty="0" err="1"/>
              <a:t>struct</a:t>
            </a:r>
            <a:r>
              <a:rPr lang="pt-BR" sz="24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Podemos fazer a alocação de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uma única </a:t>
            </a:r>
            <a:r>
              <a:rPr lang="pt-BR" sz="2000" b="1" dirty="0" err="1"/>
              <a:t>struct</a:t>
            </a:r>
            <a:r>
              <a:rPr lang="pt-BR" sz="2000" dirty="0"/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000" dirty="0"/>
              <a:t>um </a:t>
            </a:r>
            <a:r>
              <a:rPr lang="pt-BR" sz="2000" dirty="0" err="1"/>
              <a:t>array</a:t>
            </a:r>
            <a:r>
              <a:rPr lang="pt-BR" sz="2000" dirty="0"/>
              <a:t> de </a:t>
            </a:r>
            <a:r>
              <a:rPr lang="pt-BR" sz="2000" b="1" dirty="0" err="1"/>
              <a:t>structs</a:t>
            </a:r>
            <a:endParaRPr lang="pt-BR" sz="20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1890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dirty="0"/>
              <a:t>Alocação de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pt-BR" dirty="0"/>
              <a:t>Para alocar uma única </a:t>
            </a:r>
            <a:r>
              <a:rPr lang="pt-BR" b="1" dirty="0" err="1"/>
              <a:t>struct</a:t>
            </a:r>
            <a:endParaRPr lang="pt-BR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Um ponteiro para </a:t>
            </a:r>
            <a:r>
              <a:rPr lang="pt-BR" b="1" dirty="0" err="1"/>
              <a:t>struct</a:t>
            </a:r>
            <a:r>
              <a:rPr lang="pt-BR" dirty="0"/>
              <a:t> receberá o </a:t>
            </a:r>
            <a:r>
              <a:rPr lang="pt-BR" b="1" dirty="0" err="1"/>
              <a:t>malloc</a:t>
            </a:r>
            <a:r>
              <a:rPr lang="pt-BR" b="1" dirty="0"/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Utilizamos o </a:t>
            </a:r>
            <a:r>
              <a:rPr lang="pt-BR" b="1" dirty="0"/>
              <a:t>operador seta</a:t>
            </a:r>
            <a:r>
              <a:rPr lang="pt-BR" dirty="0"/>
              <a:t> para acessar o conteúdo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Usamos </a:t>
            </a:r>
            <a:r>
              <a:rPr lang="pt-BR" b="1" dirty="0" err="1"/>
              <a:t>free</a:t>
            </a:r>
            <a:r>
              <a:rPr lang="pt-BR" b="1" dirty="0"/>
              <a:t>()</a:t>
            </a:r>
            <a:r>
              <a:rPr lang="pt-BR" dirty="0"/>
              <a:t> para liberar a memória alocada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204" y="3663535"/>
            <a:ext cx="8604448" cy="2994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5215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Alocação de </a:t>
            </a:r>
            <a:r>
              <a:rPr lang="pt-BR" dirty="0" err="1"/>
              <a:t>struct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2108201"/>
            <a:ext cx="3723640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000" dirty="0"/>
              <a:t>Para alocar uma única </a:t>
            </a:r>
            <a:r>
              <a:rPr lang="pt-BR" sz="2000" b="1" dirty="0" err="1"/>
              <a:t>struct</a:t>
            </a:r>
            <a:endParaRPr lang="pt-BR" sz="2000" b="1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800" dirty="0"/>
              <a:t>Um ponteiro para </a:t>
            </a:r>
            <a:r>
              <a:rPr lang="pt-BR" sz="1800" b="1" dirty="0" err="1"/>
              <a:t>struct</a:t>
            </a:r>
            <a:r>
              <a:rPr lang="pt-BR" sz="1800" dirty="0"/>
              <a:t> receberá o </a:t>
            </a:r>
            <a:r>
              <a:rPr lang="pt-BR" sz="1800" b="1" dirty="0" err="1"/>
              <a:t>malloc</a:t>
            </a:r>
            <a:r>
              <a:rPr lang="pt-BR" sz="1800" b="1" dirty="0"/>
              <a:t>()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800" dirty="0"/>
              <a:t>Utilizamos os </a:t>
            </a:r>
            <a:r>
              <a:rPr lang="pt-BR" sz="1800" b="1" dirty="0"/>
              <a:t>colchetes [ ]</a:t>
            </a:r>
            <a:r>
              <a:rPr lang="pt-BR" sz="1800" dirty="0"/>
              <a:t> para acessar o conteúdo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800" dirty="0"/>
              <a:t>Usamos </a:t>
            </a:r>
            <a:r>
              <a:rPr lang="pt-BR" sz="1800" b="1" dirty="0" err="1"/>
              <a:t>free</a:t>
            </a:r>
            <a:r>
              <a:rPr lang="pt-BR" sz="1800" b="1" dirty="0"/>
              <a:t>()</a:t>
            </a:r>
            <a:r>
              <a:rPr lang="pt-BR" sz="1800" dirty="0"/>
              <a:t> para liberar a memória alocada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970" y="2209435"/>
            <a:ext cx="7236295" cy="3558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5325015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20_TF56160789" id="{B2A6CC81-05B9-4965-ACA7-26996AEDFC91}" vid="{618108A3-190A-4DA1-A261-3F406864D78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3404</TotalTime>
  <Words>1407</Words>
  <Application>Microsoft Office PowerPoint</Application>
  <PresentationFormat>Widescreen</PresentationFormat>
  <Paragraphs>278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Bookman Old Style</vt:lpstr>
      <vt:lpstr>Calibri</vt:lpstr>
      <vt:lpstr>Courier New</vt:lpstr>
      <vt:lpstr>Franklin Gothic Book</vt:lpstr>
      <vt:lpstr>Wingdings</vt:lpstr>
      <vt:lpstr>1_RetrospectVTI</vt:lpstr>
      <vt:lpstr>Estrutura de Dados I</vt:lpstr>
      <vt:lpstr>Alocação Dinâmica</vt:lpstr>
      <vt:lpstr>Definição</vt:lpstr>
      <vt:lpstr>Definição</vt:lpstr>
      <vt:lpstr>Definição</vt:lpstr>
      <vt:lpstr>Alocando memória</vt:lpstr>
      <vt:lpstr>Alocação Dinâmica</vt:lpstr>
      <vt:lpstr>Alocação Dinâmica - malloc</vt:lpstr>
      <vt:lpstr>Alocação Dinâmica - malloc</vt:lpstr>
      <vt:lpstr>Alocação Dinâmica - malloc</vt:lpstr>
      <vt:lpstr>Alocação Dinâmica - malloc</vt:lpstr>
      <vt:lpstr>Alocação Dinâmica - malloc</vt:lpstr>
      <vt:lpstr>Alocação Dinâmica - malloc</vt:lpstr>
      <vt:lpstr>Alocação Dinâmica - calloc</vt:lpstr>
      <vt:lpstr>Alocação Dinâmica - calloc</vt:lpstr>
      <vt:lpstr>Alocação Dinâmica - realloc</vt:lpstr>
      <vt:lpstr>Alocação Dinâmica - realloc</vt:lpstr>
      <vt:lpstr>Alocação Dinâmica - realloc</vt:lpstr>
      <vt:lpstr>Alocação Dinâmica - free</vt:lpstr>
      <vt:lpstr>Alocação Dinâmica - free</vt:lpstr>
      <vt:lpstr>Alocação Dinâmica - free</vt:lpstr>
      <vt:lpstr>Alocação de arrays</vt:lpstr>
      <vt:lpstr>Alocação de arrays</vt:lpstr>
      <vt:lpstr>Alocação de arrays</vt:lpstr>
      <vt:lpstr>Alocação de arrays</vt:lpstr>
      <vt:lpstr>Alocação de arrays</vt:lpstr>
      <vt:lpstr>Alocação de arrays</vt:lpstr>
      <vt:lpstr>Alocação de arrays</vt:lpstr>
      <vt:lpstr>Alocação de arrays</vt:lpstr>
      <vt:lpstr>Alocação de arrays</vt:lpstr>
      <vt:lpstr>Alocação de struct</vt:lpstr>
      <vt:lpstr>Alocação de struct</vt:lpstr>
      <vt:lpstr>Alocação de struct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Engenharia de Software</dc:title>
  <dc:creator>Cássio Capucho</dc:creator>
  <cp:lastModifiedBy>Cássio Capucho Peçanha</cp:lastModifiedBy>
  <cp:revision>92</cp:revision>
  <cp:lastPrinted>2022-03-21T10:55:35Z</cp:lastPrinted>
  <dcterms:created xsi:type="dcterms:W3CDTF">2022-02-10T03:35:00Z</dcterms:created>
  <dcterms:modified xsi:type="dcterms:W3CDTF">2024-04-30T12:37:21Z</dcterms:modified>
</cp:coreProperties>
</file>