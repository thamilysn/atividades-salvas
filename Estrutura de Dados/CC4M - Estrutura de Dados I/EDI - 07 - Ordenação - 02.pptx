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9"/>
  </p:notesMasterIdLst>
  <p:handoutMasterIdLst>
    <p:handoutMasterId r:id="rId30"/>
  </p:handoutMasterIdLst>
  <p:sldIdLst>
    <p:sldId id="257" r:id="rId2"/>
    <p:sldId id="294" r:id="rId3"/>
    <p:sldId id="316" r:id="rId4"/>
    <p:sldId id="293" r:id="rId5"/>
    <p:sldId id="317" r:id="rId6"/>
    <p:sldId id="309" r:id="rId7"/>
    <p:sldId id="339" r:id="rId8"/>
    <p:sldId id="340" r:id="rId9"/>
    <p:sldId id="343" r:id="rId10"/>
    <p:sldId id="319" r:id="rId11"/>
    <p:sldId id="342" r:id="rId12"/>
    <p:sldId id="296" r:id="rId13"/>
    <p:sldId id="308" r:id="rId14"/>
    <p:sldId id="298" r:id="rId15"/>
    <p:sldId id="299" r:id="rId16"/>
    <p:sldId id="300" r:id="rId17"/>
    <p:sldId id="345" r:id="rId18"/>
    <p:sldId id="346" r:id="rId19"/>
    <p:sldId id="347" r:id="rId20"/>
    <p:sldId id="349" r:id="rId21"/>
    <p:sldId id="350" r:id="rId22"/>
    <p:sldId id="351" r:id="rId23"/>
    <p:sldId id="352" r:id="rId24"/>
    <p:sldId id="353" r:id="rId25"/>
    <p:sldId id="354" r:id="rId26"/>
    <p:sldId id="301" r:id="rId27"/>
    <p:sldId id="302" r:id="rId2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77810" autoAdjust="0"/>
  </p:normalViewPr>
  <p:slideViewPr>
    <p:cSldViewPr snapToGrid="0">
      <p:cViewPr varScale="1">
        <p:scale>
          <a:sx n="92" d="100"/>
          <a:sy n="92" d="100"/>
        </p:scale>
        <p:origin x="1384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24/09/2025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24/09/2025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2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24/09/2025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24/09/2025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32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24/09/2025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0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24/09/2025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24/09/2025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Estrutura de Dados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Cássio Capucho Peçanha 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07</a:t>
            </a:r>
          </a:p>
          <a:p>
            <a:pPr rtl="0"/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PARTe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w Do You Become a Software Engineer?">
            <a:extLst>
              <a:ext uri="{FF2B5EF4-FFF2-40B4-BE49-F238E27FC236}">
                <a16:creationId xmlns:a16="http://schemas.microsoft.com/office/drawing/2014/main" id="{B2065B77-FC08-478E-9704-58E09ED27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9" t="1388" r="15919" b="4805"/>
          <a:stretch/>
        </p:blipFill>
        <p:spPr bwMode="auto">
          <a:xfrm>
            <a:off x="0" y="0"/>
            <a:ext cx="4604079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ntenda o conceito de estrutura projetizada e como o modelo pode  transformar uma empresa | Mundo Carreira">
            <a:extLst>
              <a:ext uri="{FF2B5EF4-FFF2-40B4-BE49-F238E27FC236}">
                <a16:creationId xmlns:a16="http://schemas.microsoft.com/office/drawing/2014/main" id="{C2342731-61B0-7E20-BCE1-2254123420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8" t="-236" r="27286" b="236"/>
          <a:stretch/>
        </p:blipFill>
        <p:spPr bwMode="auto">
          <a:xfrm>
            <a:off x="-236569" y="-17004"/>
            <a:ext cx="5091033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44B4EA0-9D41-93EC-6E2A-1563F9737F9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131D3D-624A-7B5F-1FB6-117927C1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Mistura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72F536-00DF-9242-70D6-FD40583FE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(</a:t>
            </a:r>
            <a:r>
              <a:rPr lang="pt-BR" sz="3600" dirty="0" err="1"/>
              <a:t>MergeSort</a:t>
            </a:r>
            <a:r>
              <a:rPr lang="pt-BR" sz="36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CB2B4-5E69-34AF-2071-B197F828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9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B0A3-516E-4D58-5922-54556886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13E0-8ADC-170C-7205-9FF09ABE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Também conhecido como ordenação por intercalação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Algoritmo recursivo que usa a </a:t>
            </a:r>
            <a:r>
              <a:rPr lang="pt-BR" sz="2800" dirty="0" err="1"/>
              <a:t>idéia</a:t>
            </a:r>
            <a:r>
              <a:rPr lang="pt-BR" sz="2800" dirty="0"/>
              <a:t> de dividir para conquistar para ordenar os dados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000" dirty="0"/>
              <a:t>Parte do princípio de que é mais fácil ordenar um conjunto com poucos dados do que um com muitos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O algoritmo divide os dados em conjuntos cada vez menores para depois ordená-los e combina-los por meio de intercalação (merge)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27A28-DBED-78C8-5ED4-CC3DD4E1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854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CCC19B-94C4-81BB-8EBD-23FDE4EB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endParaRPr lang="pt-B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4252C9-ACEA-2C8F-056A-51085228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 básica: Dividir e Conquistar;</a:t>
            </a:r>
          </a:p>
          <a:p>
            <a:r>
              <a:rPr lang="pt-BR" dirty="0"/>
              <a:t>Divide, recursivamente, o conjunto de dados até que cada subconjunto possua 1 elemento;</a:t>
            </a:r>
          </a:p>
          <a:p>
            <a:r>
              <a:rPr lang="pt-BR" dirty="0"/>
              <a:t>Combina 2 subconjuntos de forma a obter 1 conjunto maior e ordenado</a:t>
            </a:r>
          </a:p>
          <a:p>
            <a:r>
              <a:rPr lang="pt-BR" dirty="0"/>
              <a:t>Esse processo se repete até que exista apenas 1 conjunto.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F88C-A31A-723E-4667-60A6127C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0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6815-8A06-C685-6222-E1AE9E8A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r>
              <a:rPr lang="pt-BR" dirty="0"/>
              <a:t> - Funcionamento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84F4-28FB-5A62-E172-C01C3C08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Divide, recursivamente, o </a:t>
            </a:r>
            <a:r>
              <a:rPr lang="pt-BR" sz="2800" dirty="0" err="1"/>
              <a:t>array</a:t>
            </a:r>
            <a:r>
              <a:rPr lang="pt-BR" sz="2800" dirty="0"/>
              <a:t> em duas partes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Continua até cada parte ter apenas um elemento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Em seguida, combina dois </a:t>
            </a:r>
            <a:r>
              <a:rPr lang="pt-BR" sz="2800" dirty="0" err="1"/>
              <a:t>array</a:t>
            </a:r>
            <a:r>
              <a:rPr lang="pt-BR" sz="2800" dirty="0"/>
              <a:t> de forma a obter um </a:t>
            </a:r>
            <a:r>
              <a:rPr lang="pt-BR" sz="2800" dirty="0" err="1"/>
              <a:t>array</a:t>
            </a:r>
            <a:r>
              <a:rPr lang="pt-BR" sz="2800" dirty="0"/>
              <a:t> maior e ordenado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A combinação é feita intercalando os elementos de acordo com o sentido da ordenação (crescente ou decrescente)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Este processo se repete até que exista apenas um </a:t>
            </a:r>
            <a:r>
              <a:rPr lang="pt-BR" sz="2800" dirty="0" err="1"/>
              <a:t>array</a:t>
            </a:r>
            <a:endParaRPr lang="pt-BR" sz="2800" dirty="0"/>
          </a:p>
          <a:p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23C96-050F-9885-33DC-6FCC8B06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63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CCC19B-94C4-81BB-8EBD-23FDE4EB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 err="1"/>
              <a:t>MergeSort</a:t>
            </a:r>
            <a:r>
              <a:rPr lang="pt-BR" dirty="0"/>
              <a:t> - Exemplo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A0047-410A-E36F-C62F-ACD239D2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1" y="2108201"/>
            <a:ext cx="9111558" cy="3760891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F88C-A31A-723E-4667-60A6127C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651B26C-F0DB-4889-B6A3-FE07E152272F}" type="datetime1">
              <a:rPr lang="pt-BR" smtClean="0"/>
              <a:pPr rtl="0">
                <a:spcAft>
                  <a:spcPts val="600"/>
                </a:spcAft>
              </a:pPr>
              <a:t>24/09/2025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3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Passo a passo: função merge</a:t>
            </a:r>
          </a:p>
          <a:p>
            <a:pPr lvl="1"/>
            <a:r>
              <a:rPr lang="pt-BR" dirty="0"/>
              <a:t>Intercala os dados de forma ordenada em um </a:t>
            </a:r>
            <a:r>
              <a:rPr lang="pt-BR" dirty="0" err="1"/>
              <a:t>array</a:t>
            </a:r>
            <a:r>
              <a:rPr lang="pt-BR" dirty="0"/>
              <a:t> maior</a:t>
            </a:r>
          </a:p>
          <a:p>
            <a:pPr lvl="1"/>
            <a:r>
              <a:rPr lang="pt-BR" dirty="0"/>
              <a:t>Utiliza um </a:t>
            </a:r>
            <a:r>
              <a:rPr lang="pt-BR" dirty="0" err="1"/>
              <a:t>array</a:t>
            </a:r>
            <a:r>
              <a:rPr lang="pt-BR" dirty="0"/>
              <a:t> auxiliar</a:t>
            </a:r>
          </a:p>
          <a:p>
            <a:pPr lvl="1"/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mergesort_etapa.png"/>
          <p:cNvPicPr>
            <a:picLocks noChangeAspect="1" noChangeArrowheads="1"/>
          </p:cNvPicPr>
          <p:nvPr/>
        </p:nvPicPr>
        <p:blipFill>
          <a:blip r:embed="rId2"/>
          <a:srcRect l="24978" r="22614"/>
          <a:stretch>
            <a:fillRect/>
          </a:stretch>
        </p:blipFill>
        <p:spPr bwMode="auto">
          <a:xfrm>
            <a:off x="3977147" y="3109965"/>
            <a:ext cx="4786346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75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Passo a passo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Divide o </a:t>
            </a:r>
            <a:r>
              <a:rPr lang="pt-BR" dirty="0" err="1"/>
              <a:t>array</a:t>
            </a:r>
            <a:r>
              <a:rPr lang="pt-BR" dirty="0"/>
              <a:t> até ter </a:t>
            </a:r>
            <a:r>
              <a:rPr lang="pt-BR" b="1" dirty="0"/>
              <a:t>N</a:t>
            </a:r>
            <a:r>
              <a:rPr lang="pt-BR" dirty="0"/>
              <a:t> </a:t>
            </a:r>
            <a:r>
              <a:rPr lang="pt-BR" dirty="0" err="1"/>
              <a:t>arrays</a:t>
            </a:r>
            <a:r>
              <a:rPr lang="pt-BR" dirty="0"/>
              <a:t> de 1 elemento cada</a:t>
            </a:r>
          </a:p>
        </p:txBody>
      </p:sp>
      <p:pic>
        <p:nvPicPr>
          <p:cNvPr id="5" name="Picture 2" descr="E:\Ertai\Levar Casa\Levar Sanca\Livro Estutura de Dados em C\VersaoLatex\Figuras\mergesort.png"/>
          <p:cNvPicPr>
            <a:picLocks noChangeAspect="1" noChangeArrowheads="1"/>
          </p:cNvPicPr>
          <p:nvPr/>
        </p:nvPicPr>
        <p:blipFill rotWithShape="1">
          <a:blip r:embed="rId2"/>
          <a:srcRect l="2294" r="2277" b="47837"/>
          <a:stretch/>
        </p:blipFill>
        <p:spPr bwMode="auto">
          <a:xfrm>
            <a:off x="2422244" y="2861758"/>
            <a:ext cx="7408472" cy="3378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161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Passo a passo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Intercala os </a:t>
            </a:r>
            <a:r>
              <a:rPr lang="pt-BR" dirty="0" err="1"/>
              <a:t>arrays</a:t>
            </a:r>
            <a:r>
              <a:rPr lang="pt-BR" dirty="0"/>
              <a:t> até obter um único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b="1" dirty="0"/>
              <a:t>N </a:t>
            </a:r>
            <a:r>
              <a:rPr lang="pt-BR" dirty="0"/>
              <a:t>elementos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mergesort.png"/>
          <p:cNvPicPr>
            <a:picLocks noChangeAspect="1" noChangeArrowheads="1"/>
          </p:cNvPicPr>
          <p:nvPr/>
        </p:nvPicPr>
        <p:blipFill rotWithShape="1">
          <a:blip r:embed="rId2"/>
          <a:srcRect l="2294" t="43296" r="2277"/>
          <a:stretch/>
        </p:blipFill>
        <p:spPr bwMode="auto">
          <a:xfrm>
            <a:off x="2981044" y="2873738"/>
            <a:ext cx="7021476" cy="34804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007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Algoritmo usa 2 funções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 err="1"/>
              <a:t>mergeSort</a:t>
            </a:r>
            <a:r>
              <a:rPr lang="pt-BR" sz="2400" dirty="0"/>
              <a:t> : divide os dados em </a:t>
            </a:r>
            <a:r>
              <a:rPr lang="pt-BR" sz="2400" dirty="0" err="1"/>
              <a:t>arrays</a:t>
            </a:r>
            <a:r>
              <a:rPr lang="pt-BR" sz="2400" dirty="0"/>
              <a:t> cada vez menores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merge: intercala os dados de forma ordenada em um </a:t>
            </a:r>
            <a:r>
              <a:rPr lang="pt-BR" sz="2400" dirty="0" err="1"/>
              <a:t>array</a:t>
            </a:r>
            <a:r>
              <a:rPr lang="pt-BR" sz="2400" dirty="0"/>
              <a:t> maior</a:t>
            </a:r>
          </a:p>
        </p:txBody>
      </p:sp>
      <p:grpSp>
        <p:nvGrpSpPr>
          <p:cNvPr id="16" name="Grupo 15"/>
          <p:cNvGrpSpPr/>
          <p:nvPr/>
        </p:nvGrpSpPr>
        <p:grpSpPr>
          <a:xfrm>
            <a:off x="2357175" y="3642758"/>
            <a:ext cx="7477650" cy="2466026"/>
            <a:chOff x="1397834" y="3849939"/>
            <a:chExt cx="7477650" cy="246602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719"/>
            <a:stretch/>
          </p:blipFill>
          <p:spPr bwMode="auto">
            <a:xfrm>
              <a:off x="1397834" y="3849939"/>
              <a:ext cx="6348331" cy="2048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Chave esquerda 5"/>
            <p:cNvSpPr/>
            <p:nvPr/>
          </p:nvSpPr>
          <p:spPr>
            <a:xfrm flipH="1">
              <a:off x="5500694" y="4932609"/>
              <a:ext cx="144016" cy="360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Conector angulado 6"/>
            <p:cNvCxnSpPr>
              <a:stCxn id="8" idx="1"/>
              <a:endCxn id="6" idx="1"/>
            </p:cNvCxnSpPr>
            <p:nvPr/>
          </p:nvCxnSpPr>
          <p:spPr>
            <a:xfrm rot="10800000" flipV="1">
              <a:off x="5644711" y="4817943"/>
              <a:ext cx="913865" cy="2946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/>
            <p:cNvSpPr txBox="1"/>
            <p:nvPr/>
          </p:nvSpPr>
          <p:spPr>
            <a:xfrm>
              <a:off x="6558575" y="4464000"/>
              <a:ext cx="23169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Chama a função para as 2 metades</a:t>
              </a:r>
              <a:endParaRPr lang="en-US" sz="2000" dirty="0"/>
            </a:p>
          </p:txBody>
        </p:sp>
        <p:sp>
          <p:nvSpPr>
            <p:cNvPr id="9" name="Chave esquerda 8"/>
            <p:cNvSpPr/>
            <p:nvPr/>
          </p:nvSpPr>
          <p:spPr>
            <a:xfrm rot="5400000" flipH="1">
              <a:off x="3142670" y="5108121"/>
              <a:ext cx="144016" cy="936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Conector angulado 5"/>
            <p:cNvCxnSpPr>
              <a:stCxn id="11" idx="1"/>
              <a:endCxn id="9" idx="1"/>
            </p:cNvCxnSpPr>
            <p:nvPr/>
          </p:nvCxnSpPr>
          <p:spPr>
            <a:xfrm rot="10800000">
              <a:off x="3214679" y="5648130"/>
              <a:ext cx="2250135" cy="313893"/>
            </a:xfrm>
            <a:prstGeom prst="bentConnector4">
              <a:avLst>
                <a:gd name="adj1" fmla="val 48400"/>
                <a:gd name="adj2" fmla="val -4621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/>
            <p:cNvSpPr txBox="1"/>
            <p:nvPr/>
          </p:nvSpPr>
          <p:spPr>
            <a:xfrm>
              <a:off x="5464813" y="5608079"/>
              <a:ext cx="28598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Combina as 2 metades de forma ordenada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5174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9921702" y="6009958"/>
            <a:ext cx="780010" cy="365125"/>
          </a:xfrm>
        </p:spPr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92771" y="-228265"/>
            <a:ext cx="7376160" cy="1037068"/>
          </a:xfrm>
        </p:spPr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1061720" y="1671320"/>
            <a:ext cx="10058400" cy="3760788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/>
          <a:stretch/>
        </p:blipFill>
        <p:spPr bwMode="auto">
          <a:xfrm>
            <a:off x="5974140" y="891949"/>
            <a:ext cx="5145980" cy="529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have esquerda 12"/>
          <p:cNvSpPr/>
          <p:nvPr/>
        </p:nvSpPr>
        <p:spPr>
          <a:xfrm>
            <a:off x="7074581" y="2773120"/>
            <a:ext cx="144016" cy="54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/>
          <p:cNvSpPr txBox="1"/>
          <p:nvPr/>
        </p:nvSpPr>
        <p:spPr>
          <a:xfrm>
            <a:off x="2909498" y="2373151"/>
            <a:ext cx="2810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Combinar ordenando</a:t>
            </a:r>
            <a:endParaRPr lang="en-US" sz="2000" dirty="0"/>
          </a:p>
        </p:txBody>
      </p:sp>
      <p:sp>
        <p:nvSpPr>
          <p:cNvPr id="15" name="Chave esquerda 14"/>
          <p:cNvSpPr/>
          <p:nvPr/>
        </p:nvSpPr>
        <p:spPr>
          <a:xfrm>
            <a:off x="7159680" y="4245359"/>
            <a:ext cx="144016" cy="54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ixaDeTexto 15"/>
          <p:cNvSpPr txBox="1"/>
          <p:nvPr/>
        </p:nvSpPr>
        <p:spPr>
          <a:xfrm>
            <a:off x="2909498" y="3957327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Copia o que sobrar</a:t>
            </a:r>
            <a:endParaRPr lang="en-US" sz="2000" dirty="0"/>
          </a:p>
        </p:txBody>
      </p:sp>
      <p:sp>
        <p:nvSpPr>
          <p:cNvPr id="17" name="Chave esquerda 16"/>
          <p:cNvSpPr/>
          <p:nvPr/>
        </p:nvSpPr>
        <p:spPr>
          <a:xfrm>
            <a:off x="6871648" y="3597287"/>
            <a:ext cx="144016" cy="36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3271248" y="3093231"/>
            <a:ext cx="1996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Vetor acabou?</a:t>
            </a:r>
            <a:endParaRPr lang="en-US" sz="2000" dirty="0"/>
          </a:p>
        </p:txBody>
      </p:sp>
      <p:sp>
        <p:nvSpPr>
          <p:cNvPr id="19" name="Chave esquerda 18"/>
          <p:cNvSpPr/>
          <p:nvPr/>
        </p:nvSpPr>
        <p:spPr>
          <a:xfrm>
            <a:off x="6439600" y="5181463"/>
            <a:ext cx="144016" cy="54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2909498" y="4677407"/>
            <a:ext cx="2214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Copiar do auxiliar para o original</a:t>
            </a:r>
            <a:endParaRPr lang="en-US" sz="2000" dirty="0"/>
          </a:p>
        </p:txBody>
      </p:sp>
      <p:cxnSp>
        <p:nvCxnSpPr>
          <p:cNvPr id="21" name="Conector angulado 20"/>
          <p:cNvCxnSpPr>
            <a:stCxn id="14" idx="3"/>
            <a:endCxn id="13" idx="1"/>
          </p:cNvCxnSpPr>
          <p:nvPr/>
        </p:nvCxnSpPr>
        <p:spPr>
          <a:xfrm>
            <a:off x="5719521" y="2573206"/>
            <a:ext cx="1355061" cy="4699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>
            <a:stCxn id="18" idx="3"/>
            <a:endCxn id="17" idx="1"/>
          </p:cNvCxnSpPr>
          <p:nvPr/>
        </p:nvCxnSpPr>
        <p:spPr>
          <a:xfrm>
            <a:off x="5268092" y="3293287"/>
            <a:ext cx="1603556" cy="48400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do 26"/>
          <p:cNvCxnSpPr>
            <a:stCxn id="16" idx="3"/>
            <a:endCxn id="15" idx="1"/>
          </p:cNvCxnSpPr>
          <p:nvPr/>
        </p:nvCxnSpPr>
        <p:spPr>
          <a:xfrm>
            <a:off x="5338390" y="4157383"/>
            <a:ext cx="1821290" cy="35797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stCxn id="20" idx="3"/>
            <a:endCxn id="19" idx="1"/>
          </p:cNvCxnSpPr>
          <p:nvPr/>
        </p:nvCxnSpPr>
        <p:spPr>
          <a:xfrm>
            <a:off x="5124076" y="5031351"/>
            <a:ext cx="1315524" cy="42011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56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700B-082E-F193-4993-A5F8F51E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r>
              <a:rPr lang="pt-BR" dirty="0"/>
              <a:t> - 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3605-4871-3B34-BA98-13992377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Determine o melhor e o pior caso para o </a:t>
            </a:r>
            <a:r>
              <a:rPr lang="pt-BR" sz="2400" dirty="0" err="1"/>
              <a:t>MergeSort</a:t>
            </a:r>
            <a:r>
              <a:rPr lang="pt-BR" sz="2400" dirty="0"/>
              <a:t>? Explique.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O </a:t>
            </a:r>
            <a:r>
              <a:rPr lang="pt-BR" sz="2400" dirty="0" err="1"/>
              <a:t>MergeSort</a:t>
            </a:r>
            <a:r>
              <a:rPr lang="pt-BR" sz="2400" dirty="0"/>
              <a:t> é estável? </a:t>
            </a:r>
            <a:r>
              <a:rPr lang="pt-BR" sz="2400"/>
              <a:t>Explique.</a:t>
            </a:r>
            <a:endParaRPr lang="pt-BR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6D56-6D63-C85C-7149-C8198AFF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80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8989-D90E-5C49-C62F-0AE799D2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r>
              <a:rPr lang="pt-BR" dirty="0"/>
              <a:t> – Exercício (Explicação)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B3C2-ED4A-5BA1-EAF8-62AFAA9F4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Método de ordenação com tempo: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Melhor caso: n * log</a:t>
            </a:r>
            <a:r>
              <a:rPr lang="pt-BR" sz="2200" baseline="-25000" dirty="0"/>
              <a:t>2</a:t>
            </a:r>
            <a:r>
              <a:rPr lang="pt-BR" sz="2200" dirty="0"/>
              <a:t>n;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Pior caso: n * log</a:t>
            </a:r>
            <a:r>
              <a:rPr lang="pt-BR" sz="2200" baseline="-25000" dirty="0"/>
              <a:t>2</a:t>
            </a:r>
            <a:r>
              <a:rPr lang="pt-BR" sz="2200" dirty="0"/>
              <a:t>n;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Pode ser adaptado para ordenação de arquivos externos (memória secundária).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Utiliza mais memória para poder ordenar (vetor auxiliar).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O </a:t>
            </a:r>
            <a:r>
              <a:rPr lang="pt-BR" sz="2400" dirty="0" err="1"/>
              <a:t>MergeSort</a:t>
            </a:r>
            <a:r>
              <a:rPr lang="pt-BR" sz="2400" dirty="0"/>
              <a:t> é estável: não altera a ordem de dados iguais.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6EE8-F4FC-87AD-6B24-A0CFDE97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0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44B4EA0-9D41-93EC-6E2A-1563F9737F9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131D3D-624A-7B5F-1FB6-117927C1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Troca de Partições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72F536-00DF-9242-70D6-FD40583FE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(</a:t>
            </a:r>
            <a:r>
              <a:rPr lang="pt-BR" sz="3600" dirty="0" err="1"/>
              <a:t>QuickSort</a:t>
            </a:r>
            <a:r>
              <a:rPr lang="pt-BR" sz="36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CB2B4-5E69-34AF-2071-B197F828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52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CCC19B-94C4-81BB-8EBD-23FDE4EB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sz="4800" dirty="0" err="1"/>
              <a:t>QuickSort</a:t>
            </a:r>
            <a:endParaRPr lang="pt-B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4252C9-ACEA-2C8F-056A-51085228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É o algoritmo de ordenação interna mais rápido que se conhece para uma ampla variedade de situações;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Provavelmente é o mais utilizado;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Ideia básica: Dividir e Conquistar;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Um elemento é escolhido como pivô;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“Particionar”: os dados são rearranjados (valores menores do que o pivô são colocados antes dele e os maiores, depois);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Recursivamente ordena as 2 partições;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F88C-A31A-723E-4667-60A6127C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651B26C-F0DB-4889-B6A3-FE07E152272F}" type="datetime1">
              <a:rPr lang="pt-BR" smtClean="0"/>
              <a:pPr rtl="0">
                <a:spcAft>
                  <a:spcPts val="600"/>
                </a:spcAft>
              </a:pPr>
              <a:t>24/09/2025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5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A14D07-2FB3-C61D-31D5-7B6856DC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 err="1"/>
              <a:t>QuickSort</a:t>
            </a:r>
            <a:endParaRPr lang="pt-B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50193A-CF55-12F1-9B54-2A5572187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483F5-D9D4-1460-EB23-D32DAE8B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24/09/2025</a:t>
            </a:fld>
            <a:endParaRPr lang="en-US" dirty="0"/>
          </a:p>
        </p:txBody>
      </p:sp>
      <p:pic>
        <p:nvPicPr>
          <p:cNvPr id="1026" name="Picture 2" descr="Quicksort in JavaScript. How to implement Quicksort in your… | by Fanzhong  Zeng | Better Programming">
            <a:extLst>
              <a:ext uri="{FF2B5EF4-FFF2-40B4-BE49-F238E27FC236}">
                <a16:creationId xmlns:a16="http://schemas.microsoft.com/office/drawing/2014/main" id="{708CFF94-F08F-4C0D-7DB0-8D73110B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640" y="2030941"/>
            <a:ext cx="50292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013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Problema da separação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Em inglês, </a:t>
            </a:r>
            <a:r>
              <a:rPr lang="pt-BR" sz="2000" i="1" dirty="0" err="1"/>
              <a:t>partition</a:t>
            </a:r>
            <a:r>
              <a:rPr lang="pt-BR" sz="2000" i="1" dirty="0"/>
              <a:t> </a:t>
            </a:r>
            <a:r>
              <a:rPr lang="pt-BR" sz="2000" i="1" dirty="0" err="1"/>
              <a:t>subproblem</a:t>
            </a:r>
            <a:r>
              <a:rPr lang="pt-BR" sz="2000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Consiste em rearranjar o </a:t>
            </a:r>
            <a:r>
              <a:rPr lang="pt-BR" sz="2000" dirty="0" err="1"/>
              <a:t>array</a:t>
            </a:r>
            <a:r>
              <a:rPr lang="pt-BR" sz="2000" dirty="0"/>
              <a:t> usando um valor como </a:t>
            </a:r>
            <a:r>
              <a:rPr lang="pt-BR" sz="2000" b="1" dirty="0"/>
              <a:t>pivô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600" dirty="0"/>
              <a:t>Valores menores do que o </a:t>
            </a:r>
            <a:r>
              <a:rPr lang="pt-BR" sz="1600" b="1" dirty="0"/>
              <a:t>pivô </a:t>
            </a:r>
            <a:r>
              <a:rPr lang="pt-BR" sz="1600" dirty="0"/>
              <a:t>ficam a esquerda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600" dirty="0"/>
              <a:t>Valores maiores do que o </a:t>
            </a:r>
            <a:r>
              <a:rPr lang="pt-BR" sz="1600" b="1" dirty="0"/>
              <a:t>pivô </a:t>
            </a:r>
            <a:r>
              <a:rPr lang="pt-BR" sz="1600" dirty="0"/>
              <a:t>ficam a direita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17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quicksort.png"/>
          <p:cNvPicPr>
            <a:picLocks noChangeAspect="1" noChangeArrowheads="1"/>
          </p:cNvPicPr>
          <p:nvPr/>
        </p:nvPicPr>
        <p:blipFill rotWithShape="1">
          <a:blip r:embed="rId2"/>
          <a:srcRect l="30214" t="15060" r="29765" b="65112"/>
          <a:stretch/>
        </p:blipFill>
        <p:spPr bwMode="auto">
          <a:xfrm>
            <a:off x="4053011" y="4171425"/>
            <a:ext cx="4146938" cy="1583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2919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Funcionamento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Um elemento é escolhido como pivô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Valores menores do que o pivô são colocados antes dele e os maiores, depois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600" dirty="0"/>
              <a:t>Supondo o pivô na posição </a:t>
            </a:r>
            <a:r>
              <a:rPr lang="pt-BR" sz="1600" b="1" dirty="0"/>
              <a:t>X</a:t>
            </a:r>
            <a:r>
              <a:rPr lang="pt-BR" sz="1600" dirty="0"/>
              <a:t>, esse processo cria duas partições: </a:t>
            </a:r>
            <a:r>
              <a:rPr lang="pt-BR" sz="1600" b="1" dirty="0"/>
              <a:t>[0,...,X-1]</a:t>
            </a:r>
            <a:r>
              <a:rPr lang="pt-BR" sz="1600" dirty="0"/>
              <a:t> e </a:t>
            </a:r>
            <a:r>
              <a:rPr lang="pt-BR" sz="1600" b="1" dirty="0"/>
              <a:t>[X+1,...,N-1]</a:t>
            </a:r>
            <a:r>
              <a:rPr lang="pt-BR" sz="1600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Aplicar recursivamente a cada partição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600" dirty="0"/>
              <a:t>Até que cada partição contenha um único elemento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18</a:t>
            </a:fld>
            <a:endParaRPr lang="pt-BR"/>
          </a:p>
        </p:txBody>
      </p:sp>
      <p:grpSp>
        <p:nvGrpSpPr>
          <p:cNvPr id="7" name="Grupo 6"/>
          <p:cNvGrpSpPr/>
          <p:nvPr/>
        </p:nvGrpSpPr>
        <p:grpSpPr>
          <a:xfrm>
            <a:off x="3522491" y="4645001"/>
            <a:ext cx="5355758" cy="1426575"/>
            <a:chOff x="1735978" y="5301434"/>
            <a:chExt cx="5355758" cy="1426575"/>
          </a:xfrm>
        </p:grpSpPr>
        <p:pic>
          <p:nvPicPr>
            <p:cNvPr id="5" name="Picture 2" descr="E:\Ertai\Levar Casa\Levar Sanca\Livro Estutura de Dados em C\VersaoLatex\Figuras\quicksort.png"/>
            <p:cNvPicPr>
              <a:picLocks noChangeAspect="1" noChangeArrowheads="1"/>
            </p:cNvPicPr>
            <p:nvPr/>
          </p:nvPicPr>
          <p:blipFill rotWithShape="1">
            <a:blip r:embed="rId2"/>
            <a:srcRect l="23978" t="39584" r="24335" b="53371"/>
            <a:stretch/>
          </p:blipFill>
          <p:spPr bwMode="auto">
            <a:xfrm>
              <a:off x="1735978" y="6165304"/>
              <a:ext cx="5355758" cy="562705"/>
            </a:xfrm>
            <a:prstGeom prst="rect">
              <a:avLst/>
            </a:prstGeom>
            <a:noFill/>
          </p:spPr>
        </p:pic>
        <p:pic>
          <p:nvPicPr>
            <p:cNvPr id="6" name="Picture 2" descr="E:\Ertai\Levar Casa\Levar Sanca\Livro Estutura de Dados em C\VersaoLatex\Figuras\quicksort.png"/>
            <p:cNvPicPr>
              <a:picLocks noChangeAspect="1" noChangeArrowheads="1"/>
            </p:cNvPicPr>
            <p:nvPr/>
          </p:nvPicPr>
          <p:blipFill rotWithShape="1">
            <a:blip r:embed="rId2"/>
            <a:srcRect l="30214" t="24974" r="29765" b="65112"/>
            <a:stretch/>
          </p:blipFill>
          <p:spPr bwMode="auto">
            <a:xfrm>
              <a:off x="2368098" y="5301434"/>
              <a:ext cx="4146938" cy="79186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5874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Algoritmo usa 2 funções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quickSort</a:t>
            </a:r>
            <a:r>
              <a:rPr lang="pt-BR" dirty="0"/>
              <a:t> : divide os dados em </a:t>
            </a:r>
            <a:r>
              <a:rPr lang="pt-BR" dirty="0" err="1"/>
              <a:t>arrays</a:t>
            </a:r>
            <a:r>
              <a:rPr lang="pt-BR" dirty="0"/>
              <a:t> cada vez menores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particiona: calcula o pivô e rearranja os dados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19</a:t>
            </a:fld>
            <a:endParaRPr lang="pt-BR"/>
          </a:p>
        </p:txBody>
      </p:sp>
      <p:grpSp>
        <p:nvGrpSpPr>
          <p:cNvPr id="17" name="Grupo 16"/>
          <p:cNvGrpSpPr/>
          <p:nvPr/>
        </p:nvGrpSpPr>
        <p:grpSpPr>
          <a:xfrm>
            <a:off x="3138195" y="3306634"/>
            <a:ext cx="6515050" cy="2647812"/>
            <a:chOff x="1657350" y="3555554"/>
            <a:chExt cx="6515050" cy="2647812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4" b="60217"/>
            <a:stretch/>
          </p:blipFill>
          <p:spPr bwMode="auto">
            <a:xfrm>
              <a:off x="1928792" y="3555554"/>
              <a:ext cx="5817373" cy="1840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68" t="36285" r="49188" b="44085"/>
            <a:stretch/>
          </p:blipFill>
          <p:spPr bwMode="auto">
            <a:xfrm>
              <a:off x="1657350" y="3769568"/>
              <a:ext cx="5146898" cy="1626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Chave esquerda 6"/>
            <p:cNvSpPr/>
            <p:nvPr/>
          </p:nvSpPr>
          <p:spPr>
            <a:xfrm flipH="1">
              <a:off x="5883534" y="4638224"/>
              <a:ext cx="144016" cy="360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Conector angulado 7"/>
            <p:cNvCxnSpPr>
              <a:stCxn id="9" idx="0"/>
              <a:endCxn id="7" idx="1"/>
            </p:cNvCxnSpPr>
            <p:nvPr/>
          </p:nvCxnSpPr>
          <p:spPr>
            <a:xfrm rot="16200000" flipV="1">
              <a:off x="6314147" y="4531627"/>
              <a:ext cx="391504" cy="96469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/>
            <p:cNvSpPr txBox="1"/>
            <p:nvPr/>
          </p:nvSpPr>
          <p:spPr>
            <a:xfrm>
              <a:off x="5812096" y="5209728"/>
              <a:ext cx="23603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Chama a função para as 2 metades</a:t>
              </a:r>
              <a:endParaRPr lang="en-US" sz="2000" dirty="0"/>
            </a:p>
          </p:txBody>
        </p:sp>
        <p:cxnSp>
          <p:nvCxnSpPr>
            <p:cNvPr id="10" name="Conector angulado 5"/>
            <p:cNvCxnSpPr>
              <a:stCxn id="11" idx="1"/>
            </p:cNvCxnSpPr>
            <p:nvPr/>
          </p:nvCxnSpPr>
          <p:spPr>
            <a:xfrm rot="10800000" flipH="1">
              <a:off x="1928792" y="4481369"/>
              <a:ext cx="770999" cy="1368055"/>
            </a:xfrm>
            <a:prstGeom prst="bentConnector3">
              <a:avLst>
                <a:gd name="adj1" fmla="val -2965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/>
            <p:cNvSpPr txBox="1"/>
            <p:nvPr/>
          </p:nvSpPr>
          <p:spPr>
            <a:xfrm>
              <a:off x="1928793" y="5495480"/>
              <a:ext cx="23020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Separa os dados em 2 partições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8514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20</a:t>
            </a:fld>
            <a:endParaRPr lang="pt-BR"/>
          </a:p>
        </p:txBody>
      </p:sp>
      <p:grpSp>
        <p:nvGrpSpPr>
          <p:cNvPr id="14" name="Grupo 13"/>
          <p:cNvGrpSpPr/>
          <p:nvPr/>
        </p:nvGrpSpPr>
        <p:grpSpPr>
          <a:xfrm>
            <a:off x="2480112" y="1975454"/>
            <a:ext cx="8172648" cy="4393988"/>
            <a:chOff x="251520" y="2117694"/>
            <a:chExt cx="8424936" cy="452963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2117694"/>
              <a:ext cx="5820147" cy="4529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Chave esquerda 5"/>
            <p:cNvSpPr/>
            <p:nvPr/>
          </p:nvSpPr>
          <p:spPr>
            <a:xfrm flipH="1">
              <a:off x="5796136" y="3294316"/>
              <a:ext cx="215454" cy="360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6046366" y="3115090"/>
              <a:ext cx="26300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dirty="0"/>
                <a:t>Avança posição </a:t>
              </a:r>
            </a:p>
            <a:p>
              <a:r>
                <a:rPr lang="pt-BR" sz="2000" dirty="0"/>
                <a:t>da esquerda</a:t>
              </a:r>
              <a:endParaRPr lang="en-US" sz="2000" dirty="0"/>
            </a:p>
          </p:txBody>
        </p:sp>
        <p:sp>
          <p:nvSpPr>
            <p:cNvPr id="8" name="Chave esquerda 7"/>
            <p:cNvSpPr/>
            <p:nvPr/>
          </p:nvSpPr>
          <p:spPr>
            <a:xfrm flipH="1">
              <a:off x="5292080" y="3931087"/>
              <a:ext cx="215454" cy="360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5542310" y="3768788"/>
              <a:ext cx="26300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dirty="0"/>
                <a:t>Recua posição </a:t>
              </a:r>
            </a:p>
            <a:p>
              <a:r>
                <a:rPr lang="pt-BR" sz="2000" dirty="0"/>
                <a:t>da direita</a:t>
              </a:r>
              <a:endParaRPr lang="en-US" sz="2000" dirty="0"/>
            </a:p>
          </p:txBody>
        </p:sp>
        <p:sp>
          <p:nvSpPr>
            <p:cNvPr id="10" name="Chave esquerda 9"/>
            <p:cNvSpPr/>
            <p:nvPr/>
          </p:nvSpPr>
          <p:spPr>
            <a:xfrm flipH="1">
              <a:off x="4580472" y="4583679"/>
              <a:ext cx="215454" cy="787528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4830702" y="4785851"/>
              <a:ext cx="23759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dirty="0"/>
                <a:t>Trocar </a:t>
              </a:r>
              <a:r>
                <a:rPr lang="pt-BR" sz="2000" dirty="0" err="1"/>
                <a:t>esq</a:t>
              </a:r>
              <a:r>
                <a:rPr lang="pt-BR" sz="2000" dirty="0"/>
                <a:t> e </a:t>
              </a:r>
              <a:r>
                <a:rPr lang="pt-BR" sz="2000" dirty="0" err="1"/>
                <a:t>dir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3323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- Passo a passo: função particiona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21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quicksort_etapa.png"/>
          <p:cNvPicPr>
            <a:picLocks noChangeAspect="1" noChangeArrowheads="1"/>
          </p:cNvPicPr>
          <p:nvPr/>
        </p:nvPicPr>
        <p:blipFill rotWithShape="1">
          <a:blip r:embed="rId2"/>
          <a:srcRect r="28" b="63523"/>
          <a:stretch/>
        </p:blipFill>
        <p:spPr bwMode="auto">
          <a:xfrm>
            <a:off x="1647723" y="2204864"/>
            <a:ext cx="8896557" cy="34828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1981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- Passo a passo: função particiona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22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quicksort_etapa.png"/>
          <p:cNvPicPr>
            <a:picLocks noChangeAspect="1" noChangeArrowheads="1"/>
          </p:cNvPicPr>
          <p:nvPr/>
        </p:nvPicPr>
        <p:blipFill rotWithShape="1">
          <a:blip r:embed="rId2"/>
          <a:srcRect l="1" t="37221" r="-28" b="14607"/>
          <a:stretch/>
        </p:blipFill>
        <p:spPr bwMode="auto">
          <a:xfrm>
            <a:off x="1751957" y="1782335"/>
            <a:ext cx="8565524" cy="44258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4996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- Passo a passo: função particiona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23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quicksort_etapa.png"/>
          <p:cNvPicPr>
            <a:picLocks noChangeAspect="1" noChangeArrowheads="1"/>
          </p:cNvPicPr>
          <p:nvPr/>
        </p:nvPicPr>
        <p:blipFill rotWithShape="1">
          <a:blip r:embed="rId2"/>
          <a:srcRect t="86386" r="150"/>
          <a:stretch/>
        </p:blipFill>
        <p:spPr bwMode="auto">
          <a:xfrm>
            <a:off x="1653152" y="2420886"/>
            <a:ext cx="8885699" cy="12998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74764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Quick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24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quicksort.png"/>
          <p:cNvPicPr>
            <a:picLocks noChangeAspect="1" noChangeArrowheads="1"/>
          </p:cNvPicPr>
          <p:nvPr/>
        </p:nvPicPr>
        <p:blipFill rotWithShape="1">
          <a:blip r:embed="rId2"/>
          <a:srcRect l="10937" r="14062" b="53607"/>
          <a:stretch/>
        </p:blipFill>
        <p:spPr bwMode="auto">
          <a:xfrm>
            <a:off x="2575954" y="2151250"/>
            <a:ext cx="7040095" cy="33567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98437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25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quicksort.png"/>
          <p:cNvPicPr>
            <a:picLocks noChangeAspect="1" noChangeArrowheads="1"/>
          </p:cNvPicPr>
          <p:nvPr/>
        </p:nvPicPr>
        <p:blipFill rotWithShape="1">
          <a:blip r:embed="rId2"/>
          <a:srcRect l="10937" t="36441" r="14062"/>
          <a:stretch/>
        </p:blipFill>
        <p:spPr bwMode="auto">
          <a:xfrm>
            <a:off x="2575954" y="2142522"/>
            <a:ext cx="7040095" cy="4598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3438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700B-082E-F193-4993-A5F8F51E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 err="1"/>
              <a:t>QuickSort</a:t>
            </a:r>
            <a:r>
              <a:rPr lang="pt-BR" dirty="0"/>
              <a:t> - 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3605-4871-3B34-BA98-13992377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Explique como funciona o código do </a:t>
            </a:r>
            <a:r>
              <a:rPr lang="pt-BR" sz="2400" dirty="0" err="1"/>
              <a:t>QuickSort</a:t>
            </a:r>
            <a:r>
              <a:rPr lang="pt-BR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Determine o melhor e o pior caso para o </a:t>
            </a:r>
            <a:r>
              <a:rPr lang="pt-BR" sz="2400" dirty="0" err="1"/>
              <a:t>QuickSort</a:t>
            </a:r>
            <a:r>
              <a:rPr lang="pt-BR" sz="2400" dirty="0"/>
              <a:t>? Explique com suas palavras.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O </a:t>
            </a:r>
            <a:r>
              <a:rPr lang="pt-BR" sz="2400" dirty="0" err="1"/>
              <a:t>QuickSort</a:t>
            </a:r>
            <a:r>
              <a:rPr lang="pt-BR" sz="2400" dirty="0"/>
              <a:t> é estável? Explique com suas palavras.</a:t>
            </a:r>
          </a:p>
          <a:p>
            <a:pPr marL="457200" indent="-457200">
              <a:buFont typeface="+mj-lt"/>
              <a:buAutoNum type="arabicPeriod"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**Envio de arquivo em .c.txt no blog.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6D56-6D63-C85C-7149-C8198AFF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00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8989-D90E-5C49-C62F-0AE799D2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 err="1"/>
              <a:t>QuickSort</a:t>
            </a:r>
            <a:r>
              <a:rPr lang="pt-BR" dirty="0"/>
              <a:t> – Exercício (Explicação)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B3C2-ED4A-5BA1-EAF8-62AFAA9F4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Melhor Caso: O (N Log 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Esta situação ocorre quando cada partição divide o arquivo em duas partes iguais.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Pior Caso: O (N²)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O pior caso ocorre quando, sistematicamente, o pivô é escolhido como </a:t>
            </a:r>
            <a:r>
              <a:rPr lang="pt-BR" sz="2200" dirty="0"/>
              <a:t>sendo um dos extremos de um arquivo já ordenado.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Isto faz com que o procedimento Ordena seja chamado recursivamente n vezes, eliminando apenas um item em cada chamada.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O pior caso pode ser evitado empregando pequenas modificações no algoritmo.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Para isso basta escolher três itens quaisquer do vetor e usar a mediana dos três como pivô.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Instável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Desvantagem: Como escolher o pivô?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6EE8-F4FC-87AD-6B24-A0CFDE97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24/09/2025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0031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B2A6CC81-05B9-4965-ACA7-26996AEDFC91}" vid="{618108A3-190A-4DA1-A261-3F406864D78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</TotalTime>
  <Words>866</Words>
  <Application>Microsoft Macintosh PowerPoint</Application>
  <PresentationFormat>Widescreen</PresentationFormat>
  <Paragraphs>145</Paragraphs>
  <Slides>27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Bookman Old Style</vt:lpstr>
      <vt:lpstr>Calibri</vt:lpstr>
      <vt:lpstr>Franklin Gothic Book</vt:lpstr>
      <vt:lpstr>Wingdings</vt:lpstr>
      <vt:lpstr>1_RetrospectVTI</vt:lpstr>
      <vt:lpstr>Estrutura de Dados I</vt:lpstr>
      <vt:lpstr>Ordenação por Mistura</vt:lpstr>
      <vt:lpstr>MergeSort</vt:lpstr>
      <vt:lpstr>MergeSort</vt:lpstr>
      <vt:lpstr>MergeSort - Funcionamento</vt:lpstr>
      <vt:lpstr>MergeSort - Exemplo</vt:lpstr>
      <vt:lpstr>Algoritmo Merge Sort</vt:lpstr>
      <vt:lpstr>Algoritmo Merge Sort</vt:lpstr>
      <vt:lpstr>Algoritmo Merge Sort</vt:lpstr>
      <vt:lpstr>Algoritmo Merge Sort</vt:lpstr>
      <vt:lpstr>Algoritmo Merge Sort</vt:lpstr>
      <vt:lpstr>MergeSort - Exercício</vt:lpstr>
      <vt:lpstr>MergeSort – Exercício (Explicação)</vt:lpstr>
      <vt:lpstr>Ordenação por Troca de Partições</vt:lpstr>
      <vt:lpstr>QuickSort</vt:lpstr>
      <vt:lpstr>QuickSort</vt:lpstr>
      <vt:lpstr>Algoritmo Quick Sort</vt:lpstr>
      <vt:lpstr>Algoritmo Quick Sort</vt:lpstr>
      <vt:lpstr>Algoritmo Quick Sort</vt:lpstr>
      <vt:lpstr>Algoritmo Quick Sort</vt:lpstr>
      <vt:lpstr>Quick Sort - Passo a passo: função particiona</vt:lpstr>
      <vt:lpstr>Quick Sort - Passo a passo: função particiona</vt:lpstr>
      <vt:lpstr>Quick Sort - Passo a passo: função particiona</vt:lpstr>
      <vt:lpstr>Algoritmo Quick Sort</vt:lpstr>
      <vt:lpstr>Algoritmo Quick Sort</vt:lpstr>
      <vt:lpstr>QuickSort - Exercício</vt:lpstr>
      <vt:lpstr>QuickSort – Exercício (Explicação)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</dc:title>
  <dc:creator>Cássio Capucho</dc:creator>
  <cp:lastModifiedBy>Cássio Capucho Peçanha</cp:lastModifiedBy>
  <cp:revision>91</cp:revision>
  <cp:lastPrinted>2023-09-15T11:54:53Z</cp:lastPrinted>
  <dcterms:created xsi:type="dcterms:W3CDTF">2022-02-10T03:35:00Z</dcterms:created>
  <dcterms:modified xsi:type="dcterms:W3CDTF">2025-09-24T10:29:02Z</dcterms:modified>
</cp:coreProperties>
</file>