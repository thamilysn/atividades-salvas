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9"/>
  </p:notesMasterIdLst>
  <p:handoutMasterIdLst>
    <p:handoutMasterId r:id="rId10"/>
  </p:handoutMasterIdLst>
  <p:sldIdLst>
    <p:sldId id="257" r:id="rId2"/>
    <p:sldId id="355" r:id="rId3"/>
    <p:sldId id="356" r:id="rId4"/>
    <p:sldId id="357" r:id="rId5"/>
    <p:sldId id="358" r:id="rId6"/>
    <p:sldId id="359" r:id="rId7"/>
    <p:sldId id="360" r:id="rId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807" autoAdjust="0"/>
  </p:normalViewPr>
  <p:slideViewPr>
    <p:cSldViewPr snapToGrid="0">
      <p:cViewPr varScale="1">
        <p:scale>
          <a:sx n="60" d="100"/>
          <a:sy n="60" d="100"/>
        </p:scale>
        <p:origin x="1512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29/09/2023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29/09/2023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92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29/09/2023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pt-br" sz="8000" dirty="0"/>
              <a:t>Estrutura de Dados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Cássio Capucho Peçanha </a:t>
            </a:r>
            <a:r>
              <a:rPr lang="pt-BR" sz="2400">
                <a:solidFill>
                  <a:schemeClr val="tx1">
                    <a:lumMod val="85000"/>
                    <a:lumOff val="15000"/>
                  </a:schemeClr>
                </a:solidFill>
              </a:rPr>
              <a:t>–</a:t>
            </a:r>
            <a:r>
              <a:rPr lang="pt-br" sz="24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8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rtl="0"/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ow Do You Become a Software Engineer?">
            <a:extLst>
              <a:ext uri="{FF2B5EF4-FFF2-40B4-BE49-F238E27FC236}">
                <a16:creationId xmlns:a16="http://schemas.microsoft.com/office/drawing/2014/main" id="{B2065B77-FC08-478E-9704-58E09ED27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9" t="1388" r="15919" b="4805"/>
          <a:stretch/>
        </p:blipFill>
        <p:spPr bwMode="auto">
          <a:xfrm>
            <a:off x="0" y="0"/>
            <a:ext cx="4604079" cy="687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Entenda o conceito de estrutura projetizada e como o modelo pode  transformar uma empresa | Mundo Carreira">
            <a:extLst>
              <a:ext uri="{FF2B5EF4-FFF2-40B4-BE49-F238E27FC236}">
                <a16:creationId xmlns:a16="http://schemas.microsoft.com/office/drawing/2014/main" id="{C2342731-61B0-7E20-BCE1-2254123420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8" t="-236" r="27286" b="236"/>
          <a:stretch/>
        </p:blipFill>
        <p:spPr bwMode="auto">
          <a:xfrm>
            <a:off x="-236569" y="-17004"/>
            <a:ext cx="5091033" cy="687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Ordenação de </a:t>
            </a:r>
            <a:r>
              <a:rPr lang="pt-BR" dirty="0" err="1"/>
              <a:t>array</a:t>
            </a:r>
            <a:r>
              <a:rPr lang="pt-BR" dirty="0"/>
              <a:t> de </a:t>
            </a:r>
            <a:r>
              <a:rPr lang="pt-BR" dirty="0" err="1"/>
              <a:t>struct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ordenação de um </a:t>
            </a:r>
            <a:r>
              <a:rPr lang="pt-BR" dirty="0" err="1"/>
              <a:t>array</a:t>
            </a:r>
            <a:r>
              <a:rPr lang="pt-BR" dirty="0"/>
              <a:t> de inteiros é uma tarefa simples</a:t>
            </a:r>
          </a:p>
          <a:p>
            <a:pPr lvl="1"/>
            <a:r>
              <a:rPr lang="pt-BR" dirty="0"/>
              <a:t>Na prática, trabalhamos com dados um pouco mais complexos, como estruturas</a:t>
            </a:r>
          </a:p>
          <a:p>
            <a:pPr lvl="1"/>
            <a:r>
              <a:rPr lang="pt-BR" dirty="0"/>
              <a:t>Mais dados para manipular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2</a:t>
            </a:fld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40" b="60198"/>
          <a:stretch/>
        </p:blipFill>
        <p:spPr bwMode="auto">
          <a:xfrm>
            <a:off x="2921835" y="4077073"/>
            <a:ext cx="6348331" cy="1052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4294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de </a:t>
            </a:r>
            <a:r>
              <a:rPr lang="pt-BR" dirty="0" err="1"/>
              <a:t>array</a:t>
            </a:r>
            <a:r>
              <a:rPr lang="pt-BR" dirty="0"/>
              <a:t> de </a:t>
            </a:r>
            <a:r>
              <a:rPr lang="pt-BR" dirty="0" err="1"/>
              <a:t>struct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Como fazer a ordenação quando o que temos é um </a:t>
            </a:r>
            <a:r>
              <a:rPr lang="pt-BR" dirty="0" err="1"/>
              <a:t>array</a:t>
            </a:r>
            <a:r>
              <a:rPr lang="pt-BR" dirty="0"/>
              <a:t> de </a:t>
            </a:r>
            <a:r>
              <a:rPr lang="pt-BR" dirty="0" err="1"/>
              <a:t>struct</a:t>
            </a:r>
            <a:r>
              <a:rPr lang="pt-BR" dirty="0"/>
              <a:t>?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2594734" y="3356992"/>
            <a:ext cx="7002532" cy="1593468"/>
            <a:chOff x="1907704" y="3933056"/>
            <a:chExt cx="7002532" cy="1593468"/>
          </a:xfrm>
        </p:grpSpPr>
        <p:grpSp>
          <p:nvGrpSpPr>
            <p:cNvPr id="7" name="Grupo 6"/>
            <p:cNvGrpSpPr/>
            <p:nvPr/>
          </p:nvGrpSpPr>
          <p:grpSpPr>
            <a:xfrm>
              <a:off x="1907704" y="4293096"/>
              <a:ext cx="1152128" cy="792088"/>
              <a:chOff x="1907704" y="4077072"/>
              <a:chExt cx="1152128" cy="792088"/>
            </a:xfrm>
          </p:grpSpPr>
          <p:pic>
            <p:nvPicPr>
              <p:cNvPr id="25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50616" y="4192163"/>
                <a:ext cx="1109216" cy="5619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6" name="Retângulo 25"/>
              <p:cNvSpPr/>
              <p:nvPr/>
            </p:nvSpPr>
            <p:spPr>
              <a:xfrm>
                <a:off x="1907704" y="4077072"/>
                <a:ext cx="1152128" cy="79208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upo 7"/>
            <p:cNvGrpSpPr/>
            <p:nvPr/>
          </p:nvGrpSpPr>
          <p:grpSpPr>
            <a:xfrm>
              <a:off x="3077588" y="4293096"/>
              <a:ext cx="1152128" cy="792088"/>
              <a:chOff x="1907704" y="4077072"/>
              <a:chExt cx="1152128" cy="792088"/>
            </a:xfrm>
          </p:grpSpPr>
          <p:pic>
            <p:nvPicPr>
              <p:cNvPr id="23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50616" y="4192163"/>
                <a:ext cx="1109216" cy="5619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4" name="Retângulo 23"/>
              <p:cNvSpPr/>
              <p:nvPr/>
            </p:nvSpPr>
            <p:spPr>
              <a:xfrm>
                <a:off x="1907704" y="4077072"/>
                <a:ext cx="1152128" cy="79208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upo 8"/>
            <p:cNvGrpSpPr/>
            <p:nvPr/>
          </p:nvGrpSpPr>
          <p:grpSpPr>
            <a:xfrm>
              <a:off x="4247472" y="4293096"/>
              <a:ext cx="1152128" cy="792088"/>
              <a:chOff x="1907704" y="4077072"/>
              <a:chExt cx="1152128" cy="792088"/>
            </a:xfrm>
          </p:grpSpPr>
          <p:pic>
            <p:nvPicPr>
              <p:cNvPr id="21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50616" y="4192163"/>
                <a:ext cx="1109216" cy="5619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2" name="Retângulo 21"/>
              <p:cNvSpPr/>
              <p:nvPr/>
            </p:nvSpPr>
            <p:spPr>
              <a:xfrm>
                <a:off x="1907704" y="4077072"/>
                <a:ext cx="1152128" cy="79208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upo 9"/>
            <p:cNvGrpSpPr/>
            <p:nvPr/>
          </p:nvGrpSpPr>
          <p:grpSpPr>
            <a:xfrm>
              <a:off x="5417356" y="4293096"/>
              <a:ext cx="1152128" cy="792088"/>
              <a:chOff x="1907704" y="4077072"/>
              <a:chExt cx="1152128" cy="792088"/>
            </a:xfrm>
          </p:grpSpPr>
          <p:pic>
            <p:nvPicPr>
              <p:cNvPr id="19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50616" y="4192163"/>
                <a:ext cx="1109216" cy="5619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0" name="Retângulo 19"/>
              <p:cNvSpPr/>
              <p:nvPr/>
            </p:nvSpPr>
            <p:spPr>
              <a:xfrm>
                <a:off x="1907704" y="4077072"/>
                <a:ext cx="1152128" cy="79208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upo 10"/>
            <p:cNvGrpSpPr/>
            <p:nvPr/>
          </p:nvGrpSpPr>
          <p:grpSpPr>
            <a:xfrm>
              <a:off x="6588224" y="4293096"/>
              <a:ext cx="1152128" cy="792088"/>
              <a:chOff x="1907704" y="4077072"/>
              <a:chExt cx="1152128" cy="792088"/>
            </a:xfrm>
          </p:grpSpPr>
          <p:pic>
            <p:nvPicPr>
              <p:cNvPr id="17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50616" y="4192163"/>
                <a:ext cx="1109216" cy="5619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8" name="Retângulo 17"/>
              <p:cNvSpPr/>
              <p:nvPr/>
            </p:nvSpPr>
            <p:spPr>
              <a:xfrm>
                <a:off x="1907704" y="4077072"/>
                <a:ext cx="1152128" cy="79208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upo 11"/>
            <p:cNvGrpSpPr/>
            <p:nvPr/>
          </p:nvGrpSpPr>
          <p:grpSpPr>
            <a:xfrm>
              <a:off x="7758108" y="4293096"/>
              <a:ext cx="1152128" cy="792088"/>
              <a:chOff x="1907704" y="4077072"/>
              <a:chExt cx="1152128" cy="792088"/>
            </a:xfrm>
          </p:grpSpPr>
          <p:pic>
            <p:nvPicPr>
              <p:cNvPr id="15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50616" y="4192163"/>
                <a:ext cx="1109216" cy="5619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" name="Retângulo 15"/>
              <p:cNvSpPr/>
              <p:nvPr/>
            </p:nvSpPr>
            <p:spPr>
              <a:xfrm>
                <a:off x="1907704" y="4077072"/>
                <a:ext cx="1152128" cy="79208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CaixaDeTexto 12"/>
            <p:cNvSpPr txBox="1"/>
            <p:nvPr/>
          </p:nvSpPr>
          <p:spPr>
            <a:xfrm>
              <a:off x="1950616" y="5157192"/>
              <a:ext cx="6959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latin typeface="Arial" pitchFamily="34" charset="0"/>
                  <a:cs typeface="Arial" pitchFamily="34" charset="0"/>
                </a:rPr>
                <a:t>   V[0]             v[1]             v[2]            v[3]             v[4]             v[5]</a:t>
              </a:r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4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616" y="3933056"/>
              <a:ext cx="2099940" cy="291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64274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de </a:t>
            </a:r>
            <a:r>
              <a:rPr lang="pt-BR" dirty="0" err="1"/>
              <a:t>array</a:t>
            </a:r>
            <a:r>
              <a:rPr lang="pt-BR" dirty="0"/>
              <a:t> de </a:t>
            </a:r>
            <a:r>
              <a:rPr lang="pt-BR" dirty="0" err="1"/>
              <a:t>struct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Relembrando</a:t>
            </a:r>
          </a:p>
          <a:p>
            <a:r>
              <a:rPr lang="pt-BR" dirty="0"/>
              <a:t>A ordenação é baseada em uma chave</a:t>
            </a:r>
          </a:p>
          <a:p>
            <a:pPr lvl="1"/>
            <a:r>
              <a:rPr lang="pt-BR" dirty="0"/>
              <a:t>A chave de ordenação é o </a:t>
            </a:r>
            <a:r>
              <a:rPr lang="pt-BR" b="1" dirty="0"/>
              <a:t>campo</a:t>
            </a:r>
            <a:r>
              <a:rPr lang="pt-BR" dirty="0"/>
              <a:t> do item utilizado para comparação </a:t>
            </a:r>
          </a:p>
          <a:p>
            <a:pPr lvl="2"/>
            <a:r>
              <a:rPr lang="pt-BR" dirty="0"/>
              <a:t>Valor armazenado em um </a:t>
            </a:r>
            <a:r>
              <a:rPr lang="pt-BR" dirty="0" err="1"/>
              <a:t>array</a:t>
            </a:r>
            <a:r>
              <a:rPr lang="pt-BR" dirty="0"/>
              <a:t> de inteiros</a:t>
            </a:r>
          </a:p>
          <a:p>
            <a:pPr lvl="2"/>
            <a:r>
              <a:rPr lang="pt-BR" b="1" dirty="0">
                <a:solidFill>
                  <a:srgbClr val="FF0000"/>
                </a:solidFill>
              </a:rPr>
              <a:t>Campo de uma </a:t>
            </a:r>
            <a:r>
              <a:rPr lang="pt-BR" b="1" dirty="0" err="1">
                <a:solidFill>
                  <a:srgbClr val="FF0000"/>
                </a:solidFill>
              </a:rPr>
              <a:t>struct</a:t>
            </a:r>
            <a:r>
              <a:rPr lang="pt-BR" b="1" dirty="0">
                <a:solidFill>
                  <a:srgbClr val="FF0000"/>
                </a:solidFill>
              </a:rPr>
              <a:t> </a:t>
            </a:r>
          </a:p>
          <a:p>
            <a:pPr lvl="2"/>
            <a:r>
              <a:rPr lang="pt-BR" dirty="0" err="1"/>
              <a:t>etc</a:t>
            </a:r>
            <a:endParaRPr lang="pt-BR" dirty="0"/>
          </a:p>
          <a:p>
            <a:pPr lvl="1"/>
            <a:r>
              <a:rPr lang="pt-BR" dirty="0"/>
              <a:t>É por meio dela que sabemos se um determinado elemento está a frente ou não de outros no conjunto</a:t>
            </a:r>
          </a:p>
        </p:txBody>
      </p:sp>
    </p:spTree>
    <p:extLst>
      <p:ext uri="{BB962C8B-B14F-4D97-AF65-F5344CB8AC3E}">
        <p14:creationId xmlns:p14="http://schemas.microsoft.com/office/powerpoint/2010/main" val="720202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de </a:t>
            </a:r>
            <a:r>
              <a:rPr lang="pt-BR" dirty="0" err="1"/>
              <a:t>array</a:t>
            </a:r>
            <a:r>
              <a:rPr lang="pt-BR" dirty="0"/>
              <a:t> de </a:t>
            </a:r>
            <a:r>
              <a:rPr lang="pt-BR" dirty="0" err="1"/>
              <a:t>struct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Ou seja, devemos modificar o algoritmo para que a comparação das chaves seja feita utilizando um determinado campo da </a:t>
            </a:r>
            <a:r>
              <a:rPr lang="pt-BR" b="1" dirty="0" err="1"/>
              <a:t>struct</a:t>
            </a:r>
            <a:endParaRPr lang="pt-BR" b="1" dirty="0"/>
          </a:p>
          <a:p>
            <a:r>
              <a:rPr lang="pt-BR" dirty="0"/>
              <a:t>Exemplo</a:t>
            </a:r>
          </a:p>
          <a:p>
            <a:pPr lvl="1"/>
            <a:r>
              <a:rPr lang="pt-BR" dirty="0"/>
              <a:t>Vamos modificar o </a:t>
            </a:r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pt-BR" b="1" dirty="0"/>
          </a:p>
          <a:p>
            <a:pPr lvl="2"/>
            <a:r>
              <a:rPr lang="pt-BR" dirty="0"/>
              <a:t>Essa modificação vale para os outros métodos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3" b="55107"/>
          <a:stretch/>
        </p:blipFill>
        <p:spPr bwMode="auto">
          <a:xfrm>
            <a:off x="2921836" y="4725144"/>
            <a:ext cx="6348331" cy="191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5653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de </a:t>
            </a:r>
            <a:r>
              <a:rPr lang="pt-BR" dirty="0" err="1"/>
              <a:t>array</a:t>
            </a:r>
            <a:r>
              <a:rPr lang="pt-BR" dirty="0"/>
              <a:t> de </a:t>
            </a:r>
            <a:r>
              <a:rPr lang="pt-BR" dirty="0" err="1"/>
              <a:t>struct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Duas novas formas de ordenação</a:t>
            </a:r>
          </a:p>
          <a:p>
            <a:pPr lvl="1"/>
            <a:r>
              <a:rPr lang="pt-BR" dirty="0"/>
              <a:t>Por </a:t>
            </a:r>
            <a:r>
              <a:rPr lang="pt-BR" b="1" dirty="0"/>
              <a:t>matricula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/>
          <a:srcRect b="60084"/>
          <a:stretch/>
        </p:blipFill>
        <p:spPr bwMode="auto">
          <a:xfrm>
            <a:off x="3026845" y="2780929"/>
            <a:ext cx="6138313" cy="1846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8208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de </a:t>
            </a:r>
            <a:r>
              <a:rPr lang="pt-BR" dirty="0" err="1"/>
              <a:t>array</a:t>
            </a:r>
            <a:r>
              <a:rPr lang="pt-BR" dirty="0"/>
              <a:t> de </a:t>
            </a:r>
            <a:r>
              <a:rPr lang="pt-BR" dirty="0" err="1"/>
              <a:t>struct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7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Duas novas formas de ordenação</a:t>
            </a:r>
          </a:p>
          <a:p>
            <a:pPr lvl="1"/>
            <a:r>
              <a:rPr lang="pt-BR" dirty="0"/>
              <a:t>Por </a:t>
            </a:r>
            <a:r>
              <a:rPr lang="pt-BR" b="1" dirty="0"/>
              <a:t>nome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/>
          <a:srcRect t="39927"/>
          <a:stretch/>
        </p:blipFill>
        <p:spPr bwMode="auto">
          <a:xfrm>
            <a:off x="3026845" y="2708920"/>
            <a:ext cx="6138313" cy="2778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93328263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B2A6CC81-05B9-4965-ACA7-26996AEDFC91}" vid="{618108A3-190A-4DA1-A261-3F406864D78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3391</TotalTime>
  <Words>213</Words>
  <Application>Microsoft Office PowerPoint</Application>
  <PresentationFormat>Widescreen</PresentationFormat>
  <Paragraphs>36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Franklin Gothic Book</vt:lpstr>
      <vt:lpstr>1_RetrospectVTI</vt:lpstr>
      <vt:lpstr>Estrutura de Dados I</vt:lpstr>
      <vt:lpstr>Ordenação de array de struct</vt:lpstr>
      <vt:lpstr>Ordenação de array de struct</vt:lpstr>
      <vt:lpstr>Ordenação de array de struct</vt:lpstr>
      <vt:lpstr>Ordenação de array de struct</vt:lpstr>
      <vt:lpstr>Ordenação de array de struct</vt:lpstr>
      <vt:lpstr>Ordenação de array de struct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de Software</dc:title>
  <dc:creator>Cássio Capucho</dc:creator>
  <cp:lastModifiedBy>Cássio Capucho Peçanha</cp:lastModifiedBy>
  <cp:revision>91</cp:revision>
  <cp:lastPrinted>2022-03-21T10:55:35Z</cp:lastPrinted>
  <dcterms:created xsi:type="dcterms:W3CDTF">2022-02-10T03:35:00Z</dcterms:created>
  <dcterms:modified xsi:type="dcterms:W3CDTF">2023-09-29T10:34:19Z</dcterms:modified>
</cp:coreProperties>
</file>